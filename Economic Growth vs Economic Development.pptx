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0"/>
  </p:notesMasterIdLst>
  <p:sldIdLst>
    <p:sldId id="258" r:id="rId2"/>
    <p:sldId id="259" r:id="rId3"/>
    <p:sldId id="262" r:id="rId4"/>
    <p:sldId id="261" r:id="rId5"/>
    <p:sldId id="263" r:id="rId6"/>
    <p:sldId id="264" r:id="rId7"/>
    <p:sldId id="266" r:id="rId8"/>
    <p:sldId id="265" r:id="rId9"/>
  </p:sldIdLst>
  <p:sldSz cx="12192000" cy="6858000"/>
  <p:notesSz cx="6858000" cy="9144000"/>
  <p:embeddedFontLst>
    <p:embeddedFont>
      <p:font typeface="Jost" pitchFamily="2" charset="0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4F201"/>
    <a:srgbClr val="F2F2F1"/>
    <a:srgbClr val="4472C4"/>
    <a:srgbClr val="F1EEEF"/>
    <a:srgbClr val="C5F201"/>
    <a:srgbClr val="F2F2F2"/>
    <a:srgbClr val="F1FF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252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hammad Ali" userId="5e06c7a85b37bfb5" providerId="LiveId" clId="{9C12D061-950E-4645-A1CA-02FEFD28555D}"/>
    <pc:docChg chg="undo custSel addSld delSld modSld sldOrd">
      <pc:chgData name="Muhammad Ali" userId="5e06c7a85b37bfb5" providerId="LiveId" clId="{9C12D061-950E-4645-A1CA-02FEFD28555D}" dt="2025-12-22T20:11:28.531" v="228" actId="167"/>
      <pc:docMkLst>
        <pc:docMk/>
      </pc:docMkLst>
      <pc:sldChg chg="modSp mod">
        <pc:chgData name="Muhammad Ali" userId="5e06c7a85b37bfb5" providerId="LiveId" clId="{9C12D061-950E-4645-A1CA-02FEFD28555D}" dt="2025-12-22T20:10:58.836" v="216" actId="14100"/>
        <pc:sldMkLst>
          <pc:docMk/>
          <pc:sldMk cId="3255972173" sldId="259"/>
        </pc:sldMkLst>
        <pc:spChg chg="mod">
          <ac:chgData name="Muhammad Ali" userId="5e06c7a85b37bfb5" providerId="LiveId" clId="{9C12D061-950E-4645-A1CA-02FEFD28555D}" dt="2025-12-22T20:10:58.836" v="216" actId="14100"/>
          <ac:spMkLst>
            <pc:docMk/>
            <pc:sldMk cId="3255972173" sldId="259"/>
            <ac:spMk id="3" creationId="{4AC8C94B-2810-5B13-294E-467CAFA91F6A}"/>
          </ac:spMkLst>
        </pc:spChg>
      </pc:sldChg>
      <pc:sldChg chg="del">
        <pc:chgData name="Muhammad Ali" userId="5e06c7a85b37bfb5" providerId="LiveId" clId="{9C12D061-950E-4645-A1CA-02FEFD28555D}" dt="2025-12-22T20:02:29.378" v="0" actId="47"/>
        <pc:sldMkLst>
          <pc:docMk/>
          <pc:sldMk cId="1006994179" sldId="260"/>
        </pc:sldMkLst>
      </pc:sldChg>
      <pc:sldChg chg="addSp delSp modSp mod">
        <pc:chgData name="Muhammad Ali" userId="5e06c7a85b37bfb5" providerId="LiveId" clId="{9C12D061-950E-4645-A1CA-02FEFD28555D}" dt="2025-12-22T20:11:08.367" v="219" actId="167"/>
        <pc:sldMkLst>
          <pc:docMk/>
          <pc:sldMk cId="3286917320" sldId="261"/>
        </pc:sldMkLst>
        <pc:spChg chg="add mod ord">
          <ac:chgData name="Muhammad Ali" userId="5e06c7a85b37bfb5" providerId="LiveId" clId="{9C12D061-950E-4645-A1CA-02FEFD28555D}" dt="2025-12-22T20:11:08.367" v="219" actId="167"/>
          <ac:spMkLst>
            <pc:docMk/>
            <pc:sldMk cId="3286917320" sldId="261"/>
            <ac:spMk id="2" creationId="{8B9DD80C-EE4C-2962-9634-327BAFE50F89}"/>
          </ac:spMkLst>
        </pc:spChg>
        <pc:spChg chg="del">
          <ac:chgData name="Muhammad Ali" userId="5e06c7a85b37bfb5" providerId="LiveId" clId="{9C12D061-950E-4645-A1CA-02FEFD28555D}" dt="2025-12-22T20:11:06.092" v="217" actId="478"/>
          <ac:spMkLst>
            <pc:docMk/>
            <pc:sldMk cId="3286917320" sldId="261"/>
            <ac:spMk id="3" creationId="{6EBAF7F3-30BF-C001-4EEC-D58D094360D1}"/>
          </ac:spMkLst>
        </pc:spChg>
      </pc:sldChg>
      <pc:sldChg chg="addSp delSp modSp mod">
        <pc:chgData name="Muhammad Ali" userId="5e06c7a85b37bfb5" providerId="LiveId" clId="{9C12D061-950E-4645-A1CA-02FEFD28555D}" dt="2025-12-22T20:11:15.134" v="222" actId="167"/>
        <pc:sldMkLst>
          <pc:docMk/>
          <pc:sldMk cId="3342683758" sldId="263"/>
        </pc:sldMkLst>
        <pc:spChg chg="add mod ord">
          <ac:chgData name="Muhammad Ali" userId="5e06c7a85b37bfb5" providerId="LiveId" clId="{9C12D061-950E-4645-A1CA-02FEFD28555D}" dt="2025-12-22T20:11:15.134" v="222" actId="167"/>
          <ac:spMkLst>
            <pc:docMk/>
            <pc:sldMk cId="3342683758" sldId="263"/>
            <ac:spMk id="2" creationId="{58574CE2-D32E-1A9D-D0A0-8D365F507FB5}"/>
          </ac:spMkLst>
        </pc:spChg>
        <pc:spChg chg="del">
          <ac:chgData name="Muhammad Ali" userId="5e06c7a85b37bfb5" providerId="LiveId" clId="{9C12D061-950E-4645-A1CA-02FEFD28555D}" dt="2025-12-22T20:11:12.882" v="220" actId="478"/>
          <ac:spMkLst>
            <pc:docMk/>
            <pc:sldMk cId="3342683758" sldId="263"/>
            <ac:spMk id="3" creationId="{330D17A2-F78C-F141-DBA8-FFC6C65C91A0}"/>
          </ac:spMkLst>
        </pc:spChg>
      </pc:sldChg>
      <pc:sldChg chg="addSp delSp modSp mod">
        <pc:chgData name="Muhammad Ali" userId="5e06c7a85b37bfb5" providerId="LiveId" clId="{9C12D061-950E-4645-A1CA-02FEFD28555D}" dt="2025-12-22T20:11:21.154" v="225" actId="167"/>
        <pc:sldMkLst>
          <pc:docMk/>
          <pc:sldMk cId="3226132832" sldId="264"/>
        </pc:sldMkLst>
        <pc:spChg chg="add mod ord">
          <ac:chgData name="Muhammad Ali" userId="5e06c7a85b37bfb5" providerId="LiveId" clId="{9C12D061-950E-4645-A1CA-02FEFD28555D}" dt="2025-12-22T20:11:21.154" v="225" actId="167"/>
          <ac:spMkLst>
            <pc:docMk/>
            <pc:sldMk cId="3226132832" sldId="264"/>
            <ac:spMk id="2" creationId="{18A7D4F5-012E-4D0A-9A22-6C70ADF744A3}"/>
          </ac:spMkLst>
        </pc:spChg>
        <pc:spChg chg="del">
          <ac:chgData name="Muhammad Ali" userId="5e06c7a85b37bfb5" providerId="LiveId" clId="{9C12D061-950E-4645-A1CA-02FEFD28555D}" dt="2025-12-22T20:11:19.160" v="223" actId="478"/>
          <ac:spMkLst>
            <pc:docMk/>
            <pc:sldMk cId="3226132832" sldId="264"/>
            <ac:spMk id="3" creationId="{925F60E6-F8C5-D264-C530-12C0B396D24A}"/>
          </ac:spMkLst>
        </pc:spChg>
        <pc:spChg chg="add del">
          <ac:chgData name="Muhammad Ali" userId="5e06c7a85b37bfb5" providerId="LiveId" clId="{9C12D061-950E-4645-A1CA-02FEFD28555D}" dt="2025-12-22T20:05:02.954" v="24" actId="21"/>
          <ac:spMkLst>
            <pc:docMk/>
            <pc:sldMk cId="3226132832" sldId="264"/>
            <ac:spMk id="4" creationId="{6E84BF1E-A1A1-28E6-1685-E7EA433C5BC1}"/>
          </ac:spMkLst>
        </pc:spChg>
      </pc:sldChg>
      <pc:sldChg chg="addSp delSp modSp mod">
        <pc:chgData name="Muhammad Ali" userId="5e06c7a85b37bfb5" providerId="LiveId" clId="{9C12D061-950E-4645-A1CA-02FEFD28555D}" dt="2025-12-22T20:09:04.416" v="212" actId="164"/>
        <pc:sldMkLst>
          <pc:docMk/>
          <pc:sldMk cId="4740986" sldId="265"/>
        </pc:sldMkLst>
        <pc:spChg chg="del">
          <ac:chgData name="Muhammad Ali" userId="5e06c7a85b37bfb5" providerId="LiveId" clId="{9C12D061-950E-4645-A1CA-02FEFD28555D}" dt="2025-12-22T20:08:50.724" v="206" actId="478"/>
          <ac:spMkLst>
            <pc:docMk/>
            <pc:sldMk cId="4740986" sldId="265"/>
            <ac:spMk id="3" creationId="{2E994382-B0F5-3682-4419-82FAE0AAE2DC}"/>
          </ac:spMkLst>
        </pc:spChg>
        <pc:spChg chg="del">
          <ac:chgData name="Muhammad Ali" userId="5e06c7a85b37bfb5" providerId="LiveId" clId="{9C12D061-950E-4645-A1CA-02FEFD28555D}" dt="2025-12-22T20:08:50.724" v="206" actId="478"/>
          <ac:spMkLst>
            <pc:docMk/>
            <pc:sldMk cId="4740986" sldId="265"/>
            <ac:spMk id="4" creationId="{1DCC862B-A6F6-332C-98A1-9AF38D357290}"/>
          </ac:spMkLst>
        </pc:spChg>
        <pc:spChg chg="add mod ord">
          <ac:chgData name="Muhammad Ali" userId="5e06c7a85b37bfb5" providerId="LiveId" clId="{9C12D061-950E-4645-A1CA-02FEFD28555D}" dt="2025-12-22T20:09:04.416" v="212" actId="164"/>
          <ac:spMkLst>
            <pc:docMk/>
            <pc:sldMk cId="4740986" sldId="265"/>
            <ac:spMk id="6" creationId="{2705F33C-23B4-92EC-3CBA-B2A552903839}"/>
          </ac:spMkLst>
        </pc:spChg>
        <pc:spChg chg="del">
          <ac:chgData name="Muhammad Ali" userId="5e06c7a85b37bfb5" providerId="LiveId" clId="{9C12D061-950E-4645-A1CA-02FEFD28555D}" dt="2025-12-22T20:08:57.691" v="208" actId="478"/>
          <ac:spMkLst>
            <pc:docMk/>
            <pc:sldMk cId="4740986" sldId="265"/>
            <ac:spMk id="7" creationId="{8ED4A564-3D16-E888-4519-A53A84C2749E}"/>
          </ac:spMkLst>
        </pc:spChg>
        <pc:spChg chg="add del mod">
          <ac:chgData name="Muhammad Ali" userId="5e06c7a85b37bfb5" providerId="LiveId" clId="{9C12D061-950E-4645-A1CA-02FEFD28555D}" dt="2025-12-22T20:08:10.429" v="112"/>
          <ac:spMkLst>
            <pc:docMk/>
            <pc:sldMk cId="4740986" sldId="265"/>
            <ac:spMk id="8" creationId="{F1F09515-9A26-A1BB-D7D3-7387FE9F46EB}"/>
          </ac:spMkLst>
        </pc:spChg>
        <pc:spChg chg="add mod">
          <ac:chgData name="Muhammad Ali" userId="5e06c7a85b37bfb5" providerId="LiveId" clId="{9C12D061-950E-4645-A1CA-02FEFD28555D}" dt="2025-12-22T20:09:04.416" v="212" actId="164"/>
          <ac:spMkLst>
            <pc:docMk/>
            <pc:sldMk cId="4740986" sldId="265"/>
            <ac:spMk id="10" creationId="{752DC393-CBB5-73AC-652A-8EEAF0EB43F1}"/>
          </ac:spMkLst>
        </pc:spChg>
        <pc:spChg chg="add mod">
          <ac:chgData name="Muhammad Ali" userId="5e06c7a85b37bfb5" providerId="LiveId" clId="{9C12D061-950E-4645-A1CA-02FEFD28555D}" dt="2025-12-22T20:05:33.571" v="46" actId="571"/>
          <ac:spMkLst>
            <pc:docMk/>
            <pc:sldMk cId="4740986" sldId="265"/>
            <ac:spMk id="11" creationId="{585FB3D1-E30B-C842-C7B7-C6529F213EBE}"/>
          </ac:spMkLst>
        </pc:spChg>
        <pc:spChg chg="del">
          <ac:chgData name="Muhammad Ali" userId="5e06c7a85b37bfb5" providerId="LiveId" clId="{9C12D061-950E-4645-A1CA-02FEFD28555D}" dt="2025-12-22T20:08:50.724" v="206" actId="478"/>
          <ac:spMkLst>
            <pc:docMk/>
            <pc:sldMk cId="4740986" sldId="265"/>
            <ac:spMk id="12" creationId="{B78ABE16-18BB-9C94-11B7-D238F8F42935}"/>
          </ac:spMkLst>
        </pc:spChg>
        <pc:spChg chg="del">
          <ac:chgData name="Muhammad Ali" userId="5e06c7a85b37bfb5" providerId="LiveId" clId="{9C12D061-950E-4645-A1CA-02FEFD28555D}" dt="2025-12-22T20:08:50.724" v="206" actId="478"/>
          <ac:spMkLst>
            <pc:docMk/>
            <pc:sldMk cId="4740986" sldId="265"/>
            <ac:spMk id="13" creationId="{918DF09C-21EB-2138-FA69-7B87C1069C10}"/>
          </ac:spMkLst>
        </pc:spChg>
        <pc:spChg chg="del">
          <ac:chgData name="Muhammad Ali" userId="5e06c7a85b37bfb5" providerId="LiveId" clId="{9C12D061-950E-4645-A1CA-02FEFD28555D}" dt="2025-12-22T20:08:50.724" v="206" actId="478"/>
          <ac:spMkLst>
            <pc:docMk/>
            <pc:sldMk cId="4740986" sldId="265"/>
            <ac:spMk id="14" creationId="{0006A81D-317F-8FA7-E578-ABDAC62B10C6}"/>
          </ac:spMkLst>
        </pc:spChg>
        <pc:spChg chg="add mod">
          <ac:chgData name="Muhammad Ali" userId="5e06c7a85b37bfb5" providerId="LiveId" clId="{9C12D061-950E-4645-A1CA-02FEFD28555D}" dt="2025-12-22T20:09:04.416" v="212" actId="164"/>
          <ac:spMkLst>
            <pc:docMk/>
            <pc:sldMk cId="4740986" sldId="265"/>
            <ac:spMk id="15" creationId="{8163C276-B90E-3EFC-C351-9B1A68074300}"/>
          </ac:spMkLst>
        </pc:spChg>
        <pc:spChg chg="add del mod ord">
          <ac:chgData name="Muhammad Ali" userId="5e06c7a85b37bfb5" providerId="LiveId" clId="{9C12D061-950E-4645-A1CA-02FEFD28555D}" dt="2025-12-22T20:07:57.188" v="110"/>
          <ac:spMkLst>
            <pc:docMk/>
            <pc:sldMk cId="4740986" sldId="265"/>
            <ac:spMk id="16" creationId="{B445856C-0ADB-B514-387B-027616A21DBE}"/>
          </ac:spMkLst>
        </pc:spChg>
        <pc:spChg chg="add del mod">
          <ac:chgData name="Muhammad Ali" userId="5e06c7a85b37bfb5" providerId="LiveId" clId="{9C12D061-950E-4645-A1CA-02FEFD28555D}" dt="2025-12-22T20:07:57.188" v="110"/>
          <ac:spMkLst>
            <pc:docMk/>
            <pc:sldMk cId="4740986" sldId="265"/>
            <ac:spMk id="17" creationId="{C6F5C18B-E0E9-670B-F118-91B54FDD146D}"/>
          </ac:spMkLst>
        </pc:spChg>
        <pc:spChg chg="mod">
          <ac:chgData name="Muhammad Ali" userId="5e06c7a85b37bfb5" providerId="LiveId" clId="{9C12D061-950E-4645-A1CA-02FEFD28555D}" dt="2025-12-22T20:09:04.416" v="212" actId="164"/>
          <ac:spMkLst>
            <pc:docMk/>
            <pc:sldMk cId="4740986" sldId="265"/>
            <ac:spMk id="18" creationId="{F9B2C4C8-B1EA-3BA8-0D4E-594D2BEEC42C}"/>
          </ac:spMkLst>
        </pc:spChg>
        <pc:spChg chg="add del">
          <ac:chgData name="Muhammad Ali" userId="5e06c7a85b37bfb5" providerId="LiveId" clId="{9C12D061-950E-4645-A1CA-02FEFD28555D}" dt="2025-12-22T20:08:10.429" v="112"/>
          <ac:spMkLst>
            <pc:docMk/>
            <pc:sldMk cId="4740986" sldId="265"/>
            <ac:spMk id="19" creationId="{2B9A321E-DF15-1236-C699-8E575D1F12B9}"/>
          </ac:spMkLst>
        </pc:spChg>
        <pc:spChg chg="mod">
          <ac:chgData name="Muhammad Ali" userId="5e06c7a85b37bfb5" providerId="LiveId" clId="{9C12D061-950E-4645-A1CA-02FEFD28555D}" dt="2025-12-22T20:09:04.416" v="212" actId="164"/>
          <ac:spMkLst>
            <pc:docMk/>
            <pc:sldMk cId="4740986" sldId="265"/>
            <ac:spMk id="20" creationId="{E98E50FD-701B-D48E-3D5F-40647194F124}"/>
          </ac:spMkLst>
        </pc:spChg>
        <pc:grpChg chg="add mod">
          <ac:chgData name="Muhammad Ali" userId="5e06c7a85b37bfb5" providerId="LiveId" clId="{9C12D061-950E-4645-A1CA-02FEFD28555D}" dt="2025-12-22T20:09:04.416" v="212" actId="164"/>
          <ac:grpSpMkLst>
            <pc:docMk/>
            <pc:sldMk cId="4740986" sldId="265"/>
            <ac:grpSpMk id="21" creationId="{83DEB39B-A01A-588A-5266-75D7D24EE5DC}"/>
          </ac:grpSpMkLst>
        </pc:grpChg>
        <pc:picChg chg="add del mod">
          <ac:chgData name="Muhammad Ali" userId="5e06c7a85b37bfb5" providerId="LiveId" clId="{9C12D061-950E-4645-A1CA-02FEFD28555D}" dt="2025-12-22T20:07:38.944" v="108" actId="478"/>
          <ac:picMkLst>
            <pc:docMk/>
            <pc:sldMk cId="4740986" sldId="265"/>
            <ac:picMk id="5" creationId="{6A3AA3F3-5466-779A-B7B0-034CA408C3BB}"/>
          </ac:picMkLst>
        </pc:picChg>
        <pc:picChg chg="add del mod">
          <ac:chgData name="Muhammad Ali" userId="5e06c7a85b37bfb5" providerId="LiveId" clId="{9C12D061-950E-4645-A1CA-02FEFD28555D}" dt="2025-12-22T20:08:53.368" v="207" actId="478"/>
          <ac:picMkLst>
            <pc:docMk/>
            <pc:sldMk cId="4740986" sldId="265"/>
            <ac:picMk id="9" creationId="{7651FE7D-1527-E534-B92A-7378DCDD8694}"/>
          </ac:picMkLst>
        </pc:picChg>
        <pc:picChg chg="del">
          <ac:chgData name="Muhammad Ali" userId="5e06c7a85b37bfb5" providerId="LiveId" clId="{9C12D061-950E-4645-A1CA-02FEFD28555D}" dt="2025-12-22T20:02:32.087" v="1" actId="478"/>
          <ac:picMkLst>
            <pc:docMk/>
            <pc:sldMk cId="4740986" sldId="265"/>
            <ac:picMk id="7170" creationId="{0D463EC9-2205-1826-5AC6-20D3732A3AD4}"/>
          </ac:picMkLst>
        </pc:picChg>
      </pc:sldChg>
      <pc:sldChg chg="addSp delSp modSp add mod ord">
        <pc:chgData name="Muhammad Ali" userId="5e06c7a85b37bfb5" providerId="LiveId" clId="{9C12D061-950E-4645-A1CA-02FEFD28555D}" dt="2025-12-22T20:11:28.531" v="228" actId="167"/>
        <pc:sldMkLst>
          <pc:docMk/>
          <pc:sldMk cId="692395247" sldId="266"/>
        </pc:sldMkLst>
        <pc:spChg chg="add mod ord">
          <ac:chgData name="Muhammad Ali" userId="5e06c7a85b37bfb5" providerId="LiveId" clId="{9C12D061-950E-4645-A1CA-02FEFD28555D}" dt="2025-12-22T20:11:28.531" v="228" actId="167"/>
          <ac:spMkLst>
            <pc:docMk/>
            <pc:sldMk cId="692395247" sldId="266"/>
            <ac:spMk id="2" creationId="{A43ECE43-E70F-C87B-0029-502591203D0E}"/>
          </ac:spMkLst>
        </pc:spChg>
        <pc:spChg chg="del">
          <ac:chgData name="Muhammad Ali" userId="5e06c7a85b37bfb5" providerId="LiveId" clId="{9C12D061-950E-4645-A1CA-02FEFD28555D}" dt="2025-12-22T20:11:26.500" v="226" actId="478"/>
          <ac:spMkLst>
            <pc:docMk/>
            <pc:sldMk cId="692395247" sldId="266"/>
            <ac:spMk id="3" creationId="{2E0391F3-E339-6CCE-3852-728126724B2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445053-DBAA-4402-AFFB-F0CB1701FBD3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5CA459-8082-4C4D-9384-0E2FABB14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65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5CA459-8082-4C4D-9384-0E2FABB1407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195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FD9EE-5B6F-0BE0-6A38-BD5F1AE2A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506D6C-59BA-CE8F-AE9C-1C7C94033E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627D36-0406-7954-8513-8C8AADE44D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80B51D-036E-A395-E6A4-A19E66A76A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5CA459-8082-4C4D-9384-0E2FABB1407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1508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70998-E39A-0F5C-1AB0-3B713FCB2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9EBE12-3F0E-7BBF-78D6-F76D8E4EFA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B25881-1FD3-8D7D-005B-C94F85AAE2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44942-887A-16AF-1193-2DFEC8E3A6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5CA459-8082-4C4D-9384-0E2FABB1407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3670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320D8-5EF2-1C0D-6CB5-EA72AD9D3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2286FD-EB61-6C6A-2B08-5E0F354A87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4B68B2-09D3-FEBD-0CAB-EACF86609A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8E5321-1DC3-276A-DECB-0264C63475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5CA459-8082-4C4D-9384-0E2FABB1407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9717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744F5-F16A-835B-2097-F278A9D90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50A251-0F60-8B71-15D0-8887C0A681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7D401F-D7AC-544B-5418-A0CFAE586B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452567-A334-0DCA-02DE-3E182D51DE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5CA459-8082-4C4D-9384-0E2FABB1407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1873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F23E1-225D-D903-BFE2-344781F45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3137A8-0DA8-EE94-5178-A3448C8D9C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C7C726-D7BB-E5EB-DB12-46BC1B576E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A46294-564C-A7C0-BD3E-775C5D421E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5CA459-8082-4C4D-9384-0E2FABB1407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0463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3D10764-C3B6-E992-B1AA-D0B7E2F0941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D8DFE4-F776-E4EC-FD70-DAE41511D5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0200" y="4238171"/>
            <a:ext cx="2743200" cy="2278743"/>
          </a:xfrm>
        </p:spPr>
        <p:txBody>
          <a:bodyPr anchor="t"/>
          <a:lstStyle>
            <a:lvl1pPr>
              <a:defRPr lang="en-US" sz="2000" b="1" kern="1200" smtClean="0">
                <a:solidFill>
                  <a:schemeClr val="tx1"/>
                </a:solidFill>
                <a:effectLst/>
                <a:latin typeface="Jost" pitchFamily="2" charset="0"/>
                <a:ea typeface="Jost" pitchFamily="2" charset="0"/>
                <a:cs typeface="+mn-cs"/>
              </a:defRPr>
            </a:lvl1pPr>
          </a:lstStyle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Presented By: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4F7D74-0DF6-7D5B-3426-F4E04D1E3DA8}"/>
              </a:ext>
            </a:extLst>
          </p:cNvPr>
          <p:cNvSpPr/>
          <p:nvPr userDrawn="1"/>
        </p:nvSpPr>
        <p:spPr>
          <a:xfrm>
            <a:off x="2533650" y="3694110"/>
            <a:ext cx="9658350" cy="2534676"/>
          </a:xfrm>
          <a:custGeom>
            <a:avLst/>
            <a:gdLst>
              <a:gd name="csX0" fmla="*/ 0 w 10439400"/>
              <a:gd name="csY0" fmla="*/ 0 h 2525712"/>
              <a:gd name="csX1" fmla="*/ 10439400 w 10439400"/>
              <a:gd name="csY1" fmla="*/ 0 h 2525712"/>
              <a:gd name="csX2" fmla="*/ 10439400 w 10439400"/>
              <a:gd name="csY2" fmla="*/ 2525712 h 2525712"/>
              <a:gd name="csX3" fmla="*/ 0 w 10439400"/>
              <a:gd name="csY3" fmla="*/ 2525712 h 2525712"/>
              <a:gd name="csX4" fmla="*/ 0 w 10439400"/>
              <a:gd name="csY4" fmla="*/ 0 h 2525712"/>
              <a:gd name="csX0" fmla="*/ 0 w 10439400"/>
              <a:gd name="csY0" fmla="*/ 0 h 2534676"/>
              <a:gd name="csX1" fmla="*/ 10439400 w 10439400"/>
              <a:gd name="csY1" fmla="*/ 0 h 2534676"/>
              <a:gd name="csX2" fmla="*/ 10439400 w 10439400"/>
              <a:gd name="csY2" fmla="*/ 2525712 h 2534676"/>
              <a:gd name="csX3" fmla="*/ 1909482 w 10439400"/>
              <a:gd name="csY3" fmla="*/ 2534676 h 2534676"/>
              <a:gd name="csX4" fmla="*/ 0 w 10439400"/>
              <a:gd name="csY4" fmla="*/ 0 h 2534676"/>
              <a:gd name="csX0" fmla="*/ 0 w 10439400"/>
              <a:gd name="csY0" fmla="*/ 0 h 2534676"/>
              <a:gd name="csX1" fmla="*/ 10439400 w 10439400"/>
              <a:gd name="csY1" fmla="*/ 0 h 2534676"/>
              <a:gd name="csX2" fmla="*/ 10439400 w 10439400"/>
              <a:gd name="csY2" fmla="*/ 2525712 h 2534676"/>
              <a:gd name="csX3" fmla="*/ 2671482 w 10439400"/>
              <a:gd name="csY3" fmla="*/ 2534676 h 2534676"/>
              <a:gd name="csX4" fmla="*/ 0 w 10439400"/>
              <a:gd name="csY4" fmla="*/ 0 h 25346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439400" h="2534676">
                <a:moveTo>
                  <a:pt x="0" y="0"/>
                </a:moveTo>
                <a:lnTo>
                  <a:pt x="10439400" y="0"/>
                </a:lnTo>
                <a:lnTo>
                  <a:pt x="10439400" y="2525712"/>
                </a:lnTo>
                <a:lnTo>
                  <a:pt x="2671482" y="2534676"/>
                </a:lnTo>
                <a:lnTo>
                  <a:pt x="0" y="0"/>
                </a:lnTo>
                <a:close/>
              </a:path>
            </a:pathLst>
          </a:custGeom>
          <a:solidFill>
            <a:srgbClr val="C5F201"/>
          </a:solidFill>
          <a:ln>
            <a:noFill/>
          </a:ln>
          <a:effectLst>
            <a:outerShdw blurRad="254000" dist="1397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C24DC2-B724-913B-EA09-235B9F0BF81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05250" y="4074549"/>
            <a:ext cx="7956550" cy="1430902"/>
          </a:xfrm>
        </p:spPr>
        <p:txBody>
          <a:bodyPr anchor="ctr">
            <a:normAutofit/>
          </a:bodyPr>
          <a:lstStyle>
            <a:lvl1pPr algn="r">
              <a:defRPr sz="4800" b="1">
                <a:latin typeface="Jos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840241-995C-5837-4AD5-EBC50BE5F8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05250" y="5582677"/>
            <a:ext cx="7956550" cy="475223"/>
          </a:xfrm>
        </p:spPr>
        <p:txBody>
          <a:bodyPr/>
          <a:lstStyle>
            <a:lvl1pPr marL="0" indent="0" algn="r">
              <a:buNone/>
              <a:defRPr sz="2400" b="0">
                <a:effectLst/>
                <a:latin typeface="Jost" pitchFamily="2" charset="0"/>
                <a:ea typeface="Jost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498121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D8B19-0ABA-EFFD-1AB1-B0535F56D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CC642-82C0-E4C6-3806-CA716C3EB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9068A-AF09-F23D-6040-A72AD687F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ED2FD-E91B-482E-8EA2-B8B96E3D87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5F8348-8761-E20D-CFC6-D2D9A560C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250E5B-CAF8-2CE5-A4D3-27A6AB3F1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F5093-BEAB-4799-B226-3B89AA9DA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634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04D7D-26D4-ABA3-5AFD-D5CAA8DE6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B00F06-F64E-E082-9476-61AE07B665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69359C-E808-8B36-1FC8-0C27A41C9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ED2FD-E91B-482E-8EA2-B8B96E3D87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A634C6-955D-AF88-3CD4-4D56BE08E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B8FA8-D417-8F04-8640-E0A0AEE97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F5093-BEAB-4799-B226-3B89AA9DA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868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F6908-9948-6C0B-80F9-2966B1948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6F56E-4F27-CFCD-AA72-26EE21111E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E46B07-6C06-37A5-5C37-B1DFFB03AE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60DE4D-3448-52F1-AB49-E1464B834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ED2FD-E91B-482E-8EA2-B8B96E3D87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94753F-BC8B-8B62-59DD-F4A77BC5C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7CD9BD-3EF9-DE07-6102-00E642153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F5093-BEAB-4799-B226-3B89AA9DA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539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8E01E-CC0D-3B1D-01E3-0097D90F6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0A3D1E-9086-5948-1A21-2714BE7496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1C5AF5-276A-E4B7-1D01-D8080F4097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32DDD9-E1CB-BCBC-973F-8D9200F0A9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1EBF24-88C9-E4CA-5B42-638B20F3EA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5C5635-1A2B-2781-F3C7-65C277FBB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ED2FD-E91B-482E-8EA2-B8B96E3D87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854767-8DF8-CBF5-3EA7-75CFA7E6E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35F26D-1DD3-DA6C-6112-BC8292C65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F5093-BEAB-4799-B226-3B89AA9DA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105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34469-3BD2-1510-F8DD-B83D8E3D0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5B88A2-A1F6-80C7-125F-1E1A06BE0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ED2FD-E91B-482E-8EA2-B8B96E3D87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8A9F52-67A5-9D72-8AF7-B0F4E2F45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7A1A4C-1864-AB89-0038-A3F8F933C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F5093-BEAB-4799-B226-3B89AA9DA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647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682FF5-B011-EE8E-1C5A-9BD829EC7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ED2FD-E91B-482E-8EA2-B8B96E3D87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CB90EF-27B0-0E4A-C445-7A1DC2400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CF3A25-D907-8E7B-34AF-952284622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F5093-BEAB-4799-B226-3B89AA9DA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577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BC0D2-7863-6201-940B-2FFCD5728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FBF96-2123-CE63-7D75-74479A415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89E439-9D11-E031-9131-A2D2E1751B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C332C3-D68A-CD49-AFEF-D6C6DF9CE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ED2FD-E91B-482E-8EA2-B8B96E3D87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15396-84DC-C9EC-8488-F50C0DA59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F3A9AC-35C8-75E5-B75D-A131384AA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F5093-BEAB-4799-B226-3B89AA9DA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603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6A2E0-EACB-5AAF-8979-79DE19210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D5D811-5E45-4985-705B-D9105692AB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47A2EC-A50F-BD72-31C2-33707865B0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8E729B-D337-E8F0-28FF-BD6938416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ED2FD-E91B-482E-8EA2-B8B96E3D87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3DA8D1-E0BD-CD0D-E989-E1298ACFF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EA1ADB-5D6A-A9D6-D96D-75B89AD45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F5093-BEAB-4799-B226-3B89AA9DA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018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52F3B-155C-074E-4148-FDBD1DAAD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07FF7-C9AE-28D6-4C48-3424D637AF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A70A1-4073-C203-DD3D-20F500500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ED2FD-E91B-482E-8EA2-B8B96E3D87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D06BD5-DFB0-31D2-72B1-AAACFD91F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945D8-BC3A-9199-5D35-5CE93D6E0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F5093-BEAB-4799-B226-3B89AA9DA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317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BB5F2A-15E7-E8FF-8BFB-2CB6B55383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38ECB5-92C1-560F-B8D4-B5B2D4CC8E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05AA31-DCA9-DAF2-CA3D-B663EE8C0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ED2FD-E91B-482E-8EA2-B8B96E3D87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FBCB98-D7F2-1E5F-6140-BB2A5DF35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4DC1B-A8D9-6D6B-3D97-BDAB231D7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F5093-BEAB-4799-B226-3B89AA9DA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511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626E26-86D4-117E-4BF9-2B65C9AC5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ABB4F9-D2C0-B593-E43F-4057BCDA2D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35959F-F4B4-A8AE-DA82-DA6565624B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5ED2FD-E91B-482E-8EA2-B8B96E3D87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1339BC-1BE2-7767-CC2E-C65F46B93A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BBD6E8-B2FC-7604-2D8B-F56BE3A871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2F5093-BEAB-4799-B226-3B89AA9DA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790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11CC93C-9B8A-1A61-82A9-EB1B4663671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</a:blip>
            <a:srcRect/>
            <a:stretch>
              <a:fillRect l="-5000" r="-500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EBED997-3B63-3FCB-3BF4-9CDFBDDA7F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0200" y="4074549"/>
            <a:ext cx="2743200" cy="2442365"/>
          </a:xfrm>
        </p:spPr>
        <p:txBody>
          <a:bodyPr anchor="b"/>
          <a:lstStyle>
            <a:lvl1pPr>
              <a:defRPr lang="en-US" sz="2000" b="1" kern="1200" smtClean="0">
                <a:solidFill>
                  <a:schemeClr val="tx1"/>
                </a:solidFill>
                <a:effectLst/>
                <a:latin typeface="Jost" pitchFamily="2" charset="0"/>
                <a:ea typeface="Jost" pitchFamily="2" charset="0"/>
                <a:cs typeface="+mn-cs"/>
              </a:defRPr>
            </a:lvl1pPr>
          </a:lstStyle>
          <a:p>
            <a:pPr>
              <a:lnSpc>
                <a:spcPct val="90000"/>
              </a:lnSpc>
              <a:spcAft>
                <a:spcPts val="1000"/>
              </a:spcAft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Presented By:</a:t>
            </a:r>
          </a:p>
          <a:p>
            <a:pPr>
              <a:lnSpc>
                <a:spcPct val="90000"/>
              </a:lnSpc>
              <a:spcBef>
                <a:spcPts val="500"/>
              </a:spcBef>
            </a:pPr>
            <a:r>
              <a:rPr lang="en-US" sz="18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Tayyaba Ejaz</a:t>
            </a:r>
          </a:p>
          <a:p>
            <a:pPr>
              <a:lnSpc>
                <a:spcPct val="90000"/>
              </a:lnSpc>
              <a:spcBef>
                <a:spcPts val="500"/>
              </a:spcBef>
            </a:pPr>
            <a:r>
              <a:rPr lang="en-US" sz="18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Muhammad Adnan</a:t>
            </a:r>
          </a:p>
          <a:p>
            <a:pPr>
              <a:lnSpc>
                <a:spcPct val="90000"/>
              </a:lnSpc>
              <a:spcBef>
                <a:spcPts val="500"/>
              </a:spcBef>
            </a:pPr>
            <a:r>
              <a:rPr lang="en-US" sz="18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Muhammad Ali Khalil</a:t>
            </a:r>
          </a:p>
          <a:p>
            <a:pPr>
              <a:lnSpc>
                <a:spcPct val="90000"/>
              </a:lnSpc>
              <a:spcBef>
                <a:spcPts val="500"/>
              </a:spcBef>
            </a:pPr>
            <a:r>
              <a:rPr lang="en-US" sz="18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Muhammad Ahmed</a:t>
            </a:r>
          </a:p>
          <a:p>
            <a:pPr>
              <a:lnSpc>
                <a:spcPct val="90000"/>
              </a:lnSpc>
              <a:spcBef>
                <a:spcPts val="500"/>
              </a:spcBef>
            </a:pPr>
            <a:r>
              <a:rPr lang="en-US" sz="18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Muhammad Suleman</a:t>
            </a:r>
            <a:endParaRPr lang="en-US" sz="2400" b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018956C0-0BC6-36B1-D1AD-24CBBF13BE92}"/>
              </a:ext>
            </a:extLst>
          </p:cNvPr>
          <p:cNvSpPr/>
          <p:nvPr/>
        </p:nvSpPr>
        <p:spPr>
          <a:xfrm>
            <a:off x="2533650" y="3694110"/>
            <a:ext cx="9658350" cy="2534676"/>
          </a:xfrm>
          <a:custGeom>
            <a:avLst/>
            <a:gdLst>
              <a:gd name="csX0" fmla="*/ 0 w 10439400"/>
              <a:gd name="csY0" fmla="*/ 0 h 2525712"/>
              <a:gd name="csX1" fmla="*/ 10439400 w 10439400"/>
              <a:gd name="csY1" fmla="*/ 0 h 2525712"/>
              <a:gd name="csX2" fmla="*/ 10439400 w 10439400"/>
              <a:gd name="csY2" fmla="*/ 2525712 h 2525712"/>
              <a:gd name="csX3" fmla="*/ 0 w 10439400"/>
              <a:gd name="csY3" fmla="*/ 2525712 h 2525712"/>
              <a:gd name="csX4" fmla="*/ 0 w 10439400"/>
              <a:gd name="csY4" fmla="*/ 0 h 2525712"/>
              <a:gd name="csX0" fmla="*/ 0 w 10439400"/>
              <a:gd name="csY0" fmla="*/ 0 h 2534676"/>
              <a:gd name="csX1" fmla="*/ 10439400 w 10439400"/>
              <a:gd name="csY1" fmla="*/ 0 h 2534676"/>
              <a:gd name="csX2" fmla="*/ 10439400 w 10439400"/>
              <a:gd name="csY2" fmla="*/ 2525712 h 2534676"/>
              <a:gd name="csX3" fmla="*/ 1909482 w 10439400"/>
              <a:gd name="csY3" fmla="*/ 2534676 h 2534676"/>
              <a:gd name="csX4" fmla="*/ 0 w 10439400"/>
              <a:gd name="csY4" fmla="*/ 0 h 2534676"/>
              <a:gd name="csX0" fmla="*/ 0 w 10439400"/>
              <a:gd name="csY0" fmla="*/ 0 h 2534676"/>
              <a:gd name="csX1" fmla="*/ 10439400 w 10439400"/>
              <a:gd name="csY1" fmla="*/ 0 h 2534676"/>
              <a:gd name="csX2" fmla="*/ 10439400 w 10439400"/>
              <a:gd name="csY2" fmla="*/ 2525712 h 2534676"/>
              <a:gd name="csX3" fmla="*/ 2671482 w 10439400"/>
              <a:gd name="csY3" fmla="*/ 2534676 h 2534676"/>
              <a:gd name="csX4" fmla="*/ 0 w 10439400"/>
              <a:gd name="csY4" fmla="*/ 0 h 25346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439400" h="2534676">
                <a:moveTo>
                  <a:pt x="0" y="0"/>
                </a:moveTo>
                <a:lnTo>
                  <a:pt x="10439400" y="0"/>
                </a:lnTo>
                <a:lnTo>
                  <a:pt x="10439400" y="2525712"/>
                </a:lnTo>
                <a:lnTo>
                  <a:pt x="2671482" y="2534676"/>
                </a:lnTo>
                <a:lnTo>
                  <a:pt x="0" y="0"/>
                </a:lnTo>
                <a:close/>
              </a:path>
            </a:pathLst>
          </a:custGeom>
          <a:solidFill>
            <a:srgbClr val="C5F201"/>
          </a:solidFill>
          <a:ln>
            <a:noFill/>
          </a:ln>
          <a:effectLst>
            <a:outerShdw blurRad="254000" dist="1397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3E49F23-ECC8-CAFF-6E58-6FEA9549DED4}"/>
              </a:ext>
            </a:extLst>
          </p:cNvPr>
          <p:cNvSpPr txBox="1">
            <a:spLocks/>
          </p:cNvSpPr>
          <p:nvPr/>
        </p:nvSpPr>
        <p:spPr>
          <a:xfrm>
            <a:off x="3905250" y="4074549"/>
            <a:ext cx="7956550" cy="143090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Jos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ECONOMIC GROWTH vs. ECONOMIC DEVELOPMENT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64264D4-9513-52F1-EEE4-8A20D198648E}"/>
              </a:ext>
            </a:extLst>
          </p:cNvPr>
          <p:cNvSpPr txBox="1">
            <a:spLocks/>
          </p:cNvSpPr>
          <p:nvPr/>
        </p:nvSpPr>
        <p:spPr>
          <a:xfrm>
            <a:off x="3905250" y="5582677"/>
            <a:ext cx="7956550" cy="475223"/>
          </a:xfrm>
          <a:prstGeom prst="rect">
            <a:avLst/>
          </a:prstGeom>
        </p:spPr>
        <p:txBody>
          <a:bodyPr/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kern="1200">
                <a:solidFill>
                  <a:schemeClr val="tx1"/>
                </a:solidFill>
                <a:effectLst/>
                <a:latin typeface="Jost" pitchFamily="2" charset="0"/>
                <a:ea typeface="Jost" pitchFamily="2" charset="0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Macroeconomics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377453F-C315-3443-DF08-2EBE7293C138}"/>
              </a:ext>
            </a:extLst>
          </p:cNvPr>
          <p:cNvSpPr/>
          <p:nvPr/>
        </p:nvSpPr>
        <p:spPr>
          <a:xfrm>
            <a:off x="330200" y="341086"/>
            <a:ext cx="678089" cy="678089"/>
          </a:xfrm>
          <a:prstGeom prst="ellipse">
            <a:avLst/>
          </a:prstGeom>
          <a:solidFill>
            <a:srgbClr val="C5F2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04CAE62-E8C7-A74E-4D81-6F06664F53BD}"/>
              </a:ext>
            </a:extLst>
          </p:cNvPr>
          <p:cNvCxnSpPr>
            <a:cxnSpLocks/>
          </p:cNvCxnSpPr>
          <p:nvPr/>
        </p:nvCxnSpPr>
        <p:spPr>
          <a:xfrm flipV="1">
            <a:off x="516844" y="540827"/>
            <a:ext cx="304800" cy="278607"/>
          </a:xfrm>
          <a:prstGeom prst="straightConnector1">
            <a:avLst/>
          </a:prstGeom>
          <a:ln w="38100">
            <a:solidFill>
              <a:srgbClr val="F2F2F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8977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AC8C94B-2810-5B13-294E-467CAFA91F6A}"/>
              </a:ext>
            </a:extLst>
          </p:cNvPr>
          <p:cNvSpPr/>
          <p:nvPr/>
        </p:nvSpPr>
        <p:spPr>
          <a:xfrm>
            <a:off x="0" y="0"/>
            <a:ext cx="12192000" cy="2019300"/>
          </a:xfrm>
          <a:prstGeom prst="rect">
            <a:avLst/>
          </a:prstGeom>
          <a:solidFill>
            <a:srgbClr val="C5F20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145A354-919E-73CE-FF81-445E7618F3FE}"/>
              </a:ext>
            </a:extLst>
          </p:cNvPr>
          <p:cNvSpPr txBox="1">
            <a:spLocks/>
          </p:cNvSpPr>
          <p:nvPr/>
        </p:nvSpPr>
        <p:spPr>
          <a:xfrm>
            <a:off x="330201" y="335304"/>
            <a:ext cx="11531599" cy="232625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Jos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Bef>
                <a:spcPts val="1200"/>
              </a:spcBef>
            </a:pPr>
            <a:r>
              <a:rPr lang="en-US" sz="9600" dirty="0">
                <a:solidFill>
                  <a:srgbClr val="F1FFB4"/>
                </a:solidFill>
              </a:rPr>
              <a:t>INTRODUCTION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7EC620-E123-09CF-1B49-9F1AF6C7B921}"/>
              </a:ext>
            </a:extLst>
          </p:cNvPr>
          <p:cNvSpPr/>
          <p:nvPr/>
        </p:nvSpPr>
        <p:spPr>
          <a:xfrm>
            <a:off x="0" y="1790699"/>
            <a:ext cx="6096000" cy="50673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A9AF59-BAF2-5883-28A3-ECAC63F7E33B}"/>
              </a:ext>
            </a:extLst>
          </p:cNvPr>
          <p:cNvSpPr/>
          <p:nvPr/>
        </p:nvSpPr>
        <p:spPr>
          <a:xfrm>
            <a:off x="6096000" y="1790697"/>
            <a:ext cx="6096000" cy="50673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EA1F7DA-2A78-C39B-71DA-C58CF54D1304}"/>
              </a:ext>
            </a:extLst>
          </p:cNvPr>
          <p:cNvSpPr txBox="1">
            <a:spLocks/>
          </p:cNvSpPr>
          <p:nvPr/>
        </p:nvSpPr>
        <p:spPr>
          <a:xfrm>
            <a:off x="330201" y="2363846"/>
            <a:ext cx="5435599" cy="143090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Jos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ECONOMIC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GROWTH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AC071C7-263A-8CD5-7063-CCDAE671E2FF}"/>
              </a:ext>
            </a:extLst>
          </p:cNvPr>
          <p:cNvSpPr txBox="1">
            <a:spLocks/>
          </p:cNvSpPr>
          <p:nvPr/>
        </p:nvSpPr>
        <p:spPr>
          <a:xfrm>
            <a:off x="330201" y="3800760"/>
            <a:ext cx="5435599" cy="2533082"/>
          </a:xfrm>
          <a:prstGeom prst="rect">
            <a:avLst/>
          </a:prstGeom>
        </p:spPr>
        <p:txBody>
          <a:bodyPr anchor="t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Jos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2200" b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Refers to the increase in a country's output of goods and services over time, usually measured by GDP. It is quantitative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CFE9DF8-FF9D-6C4F-FFAE-B69CB2323737}"/>
              </a:ext>
            </a:extLst>
          </p:cNvPr>
          <p:cNvSpPr/>
          <p:nvPr/>
        </p:nvSpPr>
        <p:spPr>
          <a:xfrm>
            <a:off x="6096000" y="1790697"/>
            <a:ext cx="6096000" cy="50673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C9D458F-07F9-63C6-A036-E49C0BB3BFFF}"/>
              </a:ext>
            </a:extLst>
          </p:cNvPr>
          <p:cNvSpPr txBox="1">
            <a:spLocks/>
          </p:cNvSpPr>
          <p:nvPr/>
        </p:nvSpPr>
        <p:spPr>
          <a:xfrm>
            <a:off x="6426201" y="2363844"/>
            <a:ext cx="5435599" cy="143090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Jos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ECONOMIC DEVELOPMENT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3C9C962-1168-ED90-C054-A7135BE67083}"/>
              </a:ext>
            </a:extLst>
          </p:cNvPr>
          <p:cNvSpPr txBox="1">
            <a:spLocks/>
          </p:cNvSpPr>
          <p:nvPr/>
        </p:nvSpPr>
        <p:spPr>
          <a:xfrm>
            <a:off x="6426201" y="3800758"/>
            <a:ext cx="5435599" cy="2533082"/>
          </a:xfrm>
          <a:prstGeom prst="rect">
            <a:avLst/>
          </a:prstGeom>
        </p:spPr>
        <p:txBody>
          <a:bodyPr anchor="t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Jos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2200" b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 broader concept that includes economic growth along with improvements in living standards, health, education, and income distribution. It is qualitative</a:t>
            </a:r>
          </a:p>
        </p:txBody>
      </p:sp>
    </p:spTree>
    <p:extLst>
      <p:ext uri="{BB962C8B-B14F-4D97-AF65-F5344CB8AC3E}">
        <p14:creationId xmlns:p14="http://schemas.microsoft.com/office/powerpoint/2010/main" val="3255972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DE38918-4A90-5118-0F7F-642F7B802D79}"/>
              </a:ext>
            </a:extLst>
          </p:cNvPr>
          <p:cNvSpPr txBox="1">
            <a:spLocks/>
          </p:cNvSpPr>
          <p:nvPr/>
        </p:nvSpPr>
        <p:spPr>
          <a:xfrm>
            <a:off x="330201" y="327590"/>
            <a:ext cx="11531599" cy="1342561"/>
          </a:xfrm>
          <a:prstGeom prst="rect">
            <a:avLst/>
          </a:prstGeom>
        </p:spPr>
        <p:txBody>
          <a:bodyPr anchor="t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Jos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Differences between Economic Growth and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Economic Development </a:t>
            </a:r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E682092C-EA3E-A45D-1820-9A119E28F6EE}"/>
              </a:ext>
            </a:extLst>
          </p:cNvPr>
          <p:cNvGrpSpPr/>
          <p:nvPr/>
        </p:nvGrpSpPr>
        <p:grpSpPr>
          <a:xfrm>
            <a:off x="1771650" y="1582242"/>
            <a:ext cx="4095750" cy="4829175"/>
            <a:chOff x="1771650" y="1438275"/>
            <a:chExt cx="4095750" cy="4829175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D239F7C1-D7E1-4A4D-3095-EC81D47F5AB2}"/>
                </a:ext>
              </a:extLst>
            </p:cNvPr>
            <p:cNvSpPr/>
            <p:nvPr/>
          </p:nvSpPr>
          <p:spPr>
            <a:xfrm>
              <a:off x="1771650" y="1438275"/>
              <a:ext cx="4095750" cy="4829175"/>
            </a:xfrm>
            <a:prstGeom prst="roundRect">
              <a:avLst>
                <a:gd name="adj" fmla="val 11783"/>
              </a:avLst>
            </a:prstGeom>
            <a:solidFill>
              <a:srgbClr val="F1EE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GP</a:t>
              </a: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4E55A91-216B-24F7-126E-3637B54AAC1E}"/>
                </a:ext>
              </a:extLst>
            </p:cNvPr>
            <p:cNvSpPr/>
            <p:nvPr/>
          </p:nvSpPr>
          <p:spPr>
            <a:xfrm>
              <a:off x="2533651" y="1971676"/>
              <a:ext cx="3328988" cy="695324"/>
            </a:xfrm>
            <a:custGeom>
              <a:avLst/>
              <a:gdLst>
                <a:gd name="csX0" fmla="*/ 185735 w 3328988"/>
                <a:gd name="csY0" fmla="*/ 0 h 695324"/>
                <a:gd name="csX1" fmla="*/ 3328988 w 3328988"/>
                <a:gd name="csY1" fmla="*/ 0 h 695324"/>
                <a:gd name="csX2" fmla="*/ 3328988 w 3328988"/>
                <a:gd name="csY2" fmla="*/ 695324 h 695324"/>
                <a:gd name="csX3" fmla="*/ 185735 w 3328988"/>
                <a:gd name="csY3" fmla="*/ 695324 h 695324"/>
                <a:gd name="csX4" fmla="*/ 0 w 3328988"/>
                <a:gd name="csY4" fmla="*/ 509589 h 695324"/>
                <a:gd name="csX5" fmla="*/ 0 w 3328988"/>
                <a:gd name="csY5" fmla="*/ 185735 h 695324"/>
                <a:gd name="csX6" fmla="*/ 185735 w 3328988"/>
                <a:gd name="csY6" fmla="*/ 0 h 6953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328988" h="695324">
                  <a:moveTo>
                    <a:pt x="185735" y="0"/>
                  </a:moveTo>
                  <a:lnTo>
                    <a:pt x="3328988" y="0"/>
                  </a:lnTo>
                  <a:lnTo>
                    <a:pt x="3328988" y="695324"/>
                  </a:lnTo>
                  <a:lnTo>
                    <a:pt x="185735" y="695324"/>
                  </a:lnTo>
                  <a:cubicBezTo>
                    <a:pt x="83156" y="695324"/>
                    <a:pt x="0" y="612168"/>
                    <a:pt x="0" y="509589"/>
                  </a:cubicBezTo>
                  <a:lnTo>
                    <a:pt x="0" y="185735"/>
                  </a:lnTo>
                  <a:cubicBezTo>
                    <a:pt x="0" y="83156"/>
                    <a:pt x="83156" y="0"/>
                    <a:pt x="185735" y="0"/>
                  </a:cubicBezTo>
                  <a:close/>
                </a:path>
              </a:pathLst>
            </a:custGeom>
            <a:solidFill>
              <a:srgbClr val="C5F20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D4E566AB-20CD-0770-F227-542B100A8FE9}"/>
                </a:ext>
              </a:extLst>
            </p:cNvPr>
            <p:cNvGrpSpPr/>
            <p:nvPr/>
          </p:nvGrpSpPr>
          <p:grpSpPr>
            <a:xfrm>
              <a:off x="2660811" y="2982983"/>
              <a:ext cx="2977989" cy="695324"/>
              <a:chOff x="2660811" y="2982983"/>
              <a:chExt cx="2977989" cy="695324"/>
            </a:xfrm>
          </p:grpSpPr>
          <p:sp>
            <p:nvSpPr>
              <p:cNvPr id="23" name="Title 1">
                <a:extLst>
                  <a:ext uri="{FF2B5EF4-FFF2-40B4-BE49-F238E27FC236}">
                    <a16:creationId xmlns:a16="http://schemas.microsoft.com/office/drawing/2014/main" id="{0B5C1CF1-66D4-7868-628C-127736743EB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028950" y="2982983"/>
                <a:ext cx="2609850" cy="695324"/>
              </a:xfrm>
              <a:prstGeom prst="rect">
                <a:avLst/>
              </a:prstGeom>
            </p:spPr>
            <p:txBody>
              <a:bodyPr anchor="t">
                <a:normAutofit/>
              </a:bodyPr>
              <a:lstStyle>
                <a:lvl1pPr algn="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800" b="1" kern="1200">
                    <a:solidFill>
                      <a:schemeClr val="tx1"/>
                    </a:solidFill>
                    <a:latin typeface="Jost"/>
                    <a:ea typeface="+mj-ea"/>
                    <a:cs typeface="+mj-cs"/>
                  </a:defRPr>
                </a:lvl1pPr>
              </a:lstStyle>
              <a:p>
                <a:pPr algn="l"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en-US" sz="1800" b="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Increase in GDP or national income</a:t>
                </a:r>
              </a:p>
            </p:txBody>
          </p: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3B28698C-9879-8D75-9EB1-9AF64BFF69EC}"/>
                  </a:ext>
                </a:extLst>
              </p:cNvPr>
              <p:cNvGrpSpPr/>
              <p:nvPr/>
            </p:nvGrpSpPr>
            <p:grpSpPr>
              <a:xfrm>
                <a:off x="2660811" y="3036323"/>
                <a:ext cx="232409" cy="232409"/>
                <a:chOff x="2660811" y="3036323"/>
                <a:chExt cx="232409" cy="232409"/>
              </a:xfrm>
            </p:grpSpPr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948926CB-BAAC-87AD-ABDD-2B470C24DD00}"/>
                    </a:ext>
                  </a:extLst>
                </p:cNvPr>
                <p:cNvSpPr/>
                <p:nvPr/>
              </p:nvSpPr>
              <p:spPr>
                <a:xfrm>
                  <a:off x="2660811" y="3036323"/>
                  <a:ext cx="232409" cy="232409"/>
                </a:xfrm>
                <a:prstGeom prst="ellipse">
                  <a:avLst/>
                </a:prstGeom>
                <a:solidFill>
                  <a:srgbClr val="C5F20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8" name="Arrow: Right 27">
                  <a:extLst>
                    <a:ext uri="{FF2B5EF4-FFF2-40B4-BE49-F238E27FC236}">
                      <a16:creationId xmlns:a16="http://schemas.microsoft.com/office/drawing/2014/main" id="{D1DC47C4-1D2C-88C5-7839-1B5045695898}"/>
                    </a:ext>
                  </a:extLst>
                </p:cNvPr>
                <p:cNvSpPr/>
                <p:nvPr/>
              </p:nvSpPr>
              <p:spPr>
                <a:xfrm>
                  <a:off x="2713912" y="3116808"/>
                  <a:ext cx="126207" cy="71438"/>
                </a:xfrm>
                <a:prstGeom prst="rightArrow">
                  <a:avLst/>
                </a:prstGeom>
                <a:solidFill>
                  <a:srgbClr val="F1EEEF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8F31C637-5BED-3E4D-A4B2-28C24573EA0E}"/>
                </a:ext>
              </a:extLst>
            </p:cNvPr>
            <p:cNvGrpSpPr/>
            <p:nvPr/>
          </p:nvGrpSpPr>
          <p:grpSpPr>
            <a:xfrm>
              <a:off x="2660811" y="3671075"/>
              <a:ext cx="2977989" cy="695324"/>
              <a:chOff x="2660811" y="2982983"/>
              <a:chExt cx="2977989" cy="695324"/>
            </a:xfrm>
          </p:grpSpPr>
          <p:sp>
            <p:nvSpPr>
              <p:cNvPr id="32" name="Title 1">
                <a:extLst>
                  <a:ext uri="{FF2B5EF4-FFF2-40B4-BE49-F238E27FC236}">
                    <a16:creationId xmlns:a16="http://schemas.microsoft.com/office/drawing/2014/main" id="{87EC864B-6931-AACA-D32A-D1466F90198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028950" y="2982983"/>
                <a:ext cx="2609850" cy="695324"/>
              </a:xfrm>
              <a:prstGeom prst="rect">
                <a:avLst/>
              </a:prstGeom>
            </p:spPr>
            <p:txBody>
              <a:bodyPr anchor="t">
                <a:normAutofit/>
              </a:bodyPr>
              <a:lstStyle>
                <a:lvl1pPr algn="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800" b="1" kern="1200">
                    <a:solidFill>
                      <a:schemeClr val="tx1"/>
                    </a:solidFill>
                    <a:latin typeface="Jost"/>
                    <a:ea typeface="+mj-ea"/>
                    <a:cs typeface="+mj-cs"/>
                  </a:defRPr>
                </a:lvl1pPr>
              </a:lstStyle>
              <a:p>
                <a:pPr algn="l"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en-US" sz="1800" b="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Quantitative</a:t>
                </a:r>
              </a:p>
            </p:txBody>
          </p: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842E6BC4-F270-4C03-98BC-67069D7DDCDF}"/>
                  </a:ext>
                </a:extLst>
              </p:cNvPr>
              <p:cNvGrpSpPr/>
              <p:nvPr/>
            </p:nvGrpSpPr>
            <p:grpSpPr>
              <a:xfrm>
                <a:off x="2660811" y="3036323"/>
                <a:ext cx="232409" cy="232409"/>
                <a:chOff x="2660811" y="3036323"/>
                <a:chExt cx="232409" cy="232409"/>
              </a:xfrm>
            </p:grpSpPr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E9B18658-3092-F952-149F-47553E15E33C}"/>
                    </a:ext>
                  </a:extLst>
                </p:cNvPr>
                <p:cNvSpPr/>
                <p:nvPr/>
              </p:nvSpPr>
              <p:spPr>
                <a:xfrm>
                  <a:off x="2660811" y="3036323"/>
                  <a:ext cx="232409" cy="232409"/>
                </a:xfrm>
                <a:prstGeom prst="ellipse">
                  <a:avLst/>
                </a:prstGeom>
                <a:solidFill>
                  <a:srgbClr val="C5F20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5" name="Arrow: Right 34">
                  <a:extLst>
                    <a:ext uri="{FF2B5EF4-FFF2-40B4-BE49-F238E27FC236}">
                      <a16:creationId xmlns:a16="http://schemas.microsoft.com/office/drawing/2014/main" id="{22634984-614E-9E7E-DA8A-99836486F953}"/>
                    </a:ext>
                  </a:extLst>
                </p:cNvPr>
                <p:cNvSpPr/>
                <p:nvPr/>
              </p:nvSpPr>
              <p:spPr>
                <a:xfrm>
                  <a:off x="2713912" y="3116808"/>
                  <a:ext cx="126207" cy="71438"/>
                </a:xfrm>
                <a:prstGeom prst="rightArrow">
                  <a:avLst/>
                </a:prstGeom>
                <a:solidFill>
                  <a:srgbClr val="F1EEEF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4F1BCA27-0916-1418-A965-3720B4D1EB5E}"/>
                </a:ext>
              </a:extLst>
            </p:cNvPr>
            <p:cNvGrpSpPr/>
            <p:nvPr/>
          </p:nvGrpSpPr>
          <p:grpSpPr>
            <a:xfrm>
              <a:off x="2660811" y="4225430"/>
              <a:ext cx="2977989" cy="695324"/>
              <a:chOff x="2660811" y="2982983"/>
              <a:chExt cx="2977989" cy="695324"/>
            </a:xfrm>
          </p:grpSpPr>
          <p:sp>
            <p:nvSpPr>
              <p:cNvPr id="37" name="Title 1">
                <a:extLst>
                  <a:ext uri="{FF2B5EF4-FFF2-40B4-BE49-F238E27FC236}">
                    <a16:creationId xmlns:a16="http://schemas.microsoft.com/office/drawing/2014/main" id="{BC34486E-C85E-12A3-535A-756B79AE6BE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028950" y="2982983"/>
                <a:ext cx="2609850" cy="695324"/>
              </a:xfrm>
              <a:prstGeom prst="rect">
                <a:avLst/>
              </a:prstGeom>
            </p:spPr>
            <p:txBody>
              <a:bodyPr anchor="t">
                <a:normAutofit/>
              </a:bodyPr>
              <a:lstStyle>
                <a:lvl1pPr algn="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800" b="1" kern="1200">
                    <a:solidFill>
                      <a:schemeClr val="tx1"/>
                    </a:solidFill>
                    <a:latin typeface="Jost"/>
                    <a:ea typeface="+mj-ea"/>
                    <a:cs typeface="+mj-cs"/>
                  </a:defRPr>
                </a:lvl1pPr>
              </a:lstStyle>
              <a:p>
                <a:pPr algn="l"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en-US" sz="1800" b="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Production and income</a:t>
                </a:r>
              </a:p>
            </p:txBody>
          </p:sp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18535517-6C89-AE26-4C65-9FD7B9C1FF1B}"/>
                  </a:ext>
                </a:extLst>
              </p:cNvPr>
              <p:cNvGrpSpPr/>
              <p:nvPr/>
            </p:nvGrpSpPr>
            <p:grpSpPr>
              <a:xfrm>
                <a:off x="2660811" y="3036323"/>
                <a:ext cx="232409" cy="232409"/>
                <a:chOff x="2660811" y="3036323"/>
                <a:chExt cx="232409" cy="232409"/>
              </a:xfrm>
            </p:grpSpPr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6D3B0FBA-92E5-8991-02D4-AA8BBC26B365}"/>
                    </a:ext>
                  </a:extLst>
                </p:cNvPr>
                <p:cNvSpPr/>
                <p:nvPr/>
              </p:nvSpPr>
              <p:spPr>
                <a:xfrm>
                  <a:off x="2660811" y="3036323"/>
                  <a:ext cx="232409" cy="232409"/>
                </a:xfrm>
                <a:prstGeom prst="ellipse">
                  <a:avLst/>
                </a:prstGeom>
                <a:solidFill>
                  <a:srgbClr val="C5F20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0" name="Arrow: Right 39">
                  <a:extLst>
                    <a:ext uri="{FF2B5EF4-FFF2-40B4-BE49-F238E27FC236}">
                      <a16:creationId xmlns:a16="http://schemas.microsoft.com/office/drawing/2014/main" id="{603CDA60-2979-FE19-AD63-7DF938FBC413}"/>
                    </a:ext>
                  </a:extLst>
                </p:cNvPr>
                <p:cNvSpPr/>
                <p:nvPr/>
              </p:nvSpPr>
              <p:spPr>
                <a:xfrm>
                  <a:off x="2713912" y="3116808"/>
                  <a:ext cx="126207" cy="71438"/>
                </a:xfrm>
                <a:prstGeom prst="rightArrow">
                  <a:avLst/>
                </a:prstGeom>
                <a:solidFill>
                  <a:srgbClr val="F1EEEF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06C6E616-F6ED-6180-B612-3E1C7E6DE175}"/>
                </a:ext>
              </a:extLst>
            </p:cNvPr>
            <p:cNvGrpSpPr/>
            <p:nvPr/>
          </p:nvGrpSpPr>
          <p:grpSpPr>
            <a:xfrm>
              <a:off x="2660811" y="4822082"/>
              <a:ext cx="2977989" cy="695324"/>
              <a:chOff x="2660811" y="2982983"/>
              <a:chExt cx="2977989" cy="695324"/>
            </a:xfrm>
          </p:grpSpPr>
          <p:sp>
            <p:nvSpPr>
              <p:cNvPr id="42" name="Title 1">
                <a:extLst>
                  <a:ext uri="{FF2B5EF4-FFF2-40B4-BE49-F238E27FC236}">
                    <a16:creationId xmlns:a16="http://schemas.microsoft.com/office/drawing/2014/main" id="{3A4DB01F-DCA6-B85F-6CF8-C9F0A75AFA5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028950" y="2982983"/>
                <a:ext cx="2609850" cy="695324"/>
              </a:xfrm>
              <a:prstGeom prst="rect">
                <a:avLst/>
              </a:prstGeom>
            </p:spPr>
            <p:txBody>
              <a:bodyPr anchor="t">
                <a:normAutofit/>
              </a:bodyPr>
              <a:lstStyle>
                <a:lvl1pPr algn="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800" b="1" kern="1200">
                    <a:solidFill>
                      <a:schemeClr val="tx1"/>
                    </a:solidFill>
                    <a:latin typeface="Jost"/>
                    <a:ea typeface="+mj-ea"/>
                    <a:cs typeface="+mj-cs"/>
                  </a:defRPr>
                </a:lvl1pPr>
              </a:lstStyle>
              <a:p>
                <a:pPr algn="l"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en-US" sz="1800" b="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Short-term</a:t>
                </a:r>
              </a:p>
            </p:txBody>
          </p:sp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B81C4AA0-2381-5D54-30A0-F01E3363BCE8}"/>
                  </a:ext>
                </a:extLst>
              </p:cNvPr>
              <p:cNvGrpSpPr/>
              <p:nvPr/>
            </p:nvGrpSpPr>
            <p:grpSpPr>
              <a:xfrm>
                <a:off x="2660811" y="3036323"/>
                <a:ext cx="232409" cy="232409"/>
                <a:chOff x="2660811" y="3036323"/>
                <a:chExt cx="232409" cy="232409"/>
              </a:xfrm>
            </p:grpSpPr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F9B78B69-A619-E78E-7300-D4CF760393ED}"/>
                    </a:ext>
                  </a:extLst>
                </p:cNvPr>
                <p:cNvSpPr/>
                <p:nvPr/>
              </p:nvSpPr>
              <p:spPr>
                <a:xfrm>
                  <a:off x="2660811" y="3036323"/>
                  <a:ext cx="232409" cy="232409"/>
                </a:xfrm>
                <a:prstGeom prst="ellipse">
                  <a:avLst/>
                </a:prstGeom>
                <a:solidFill>
                  <a:srgbClr val="C5F20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5" name="Arrow: Right 44">
                  <a:extLst>
                    <a:ext uri="{FF2B5EF4-FFF2-40B4-BE49-F238E27FC236}">
                      <a16:creationId xmlns:a16="http://schemas.microsoft.com/office/drawing/2014/main" id="{E40E38CC-18EC-3FB7-ED6F-C6DBE4F5F4C2}"/>
                    </a:ext>
                  </a:extLst>
                </p:cNvPr>
                <p:cNvSpPr/>
                <p:nvPr/>
              </p:nvSpPr>
              <p:spPr>
                <a:xfrm>
                  <a:off x="2713912" y="3116808"/>
                  <a:ext cx="126207" cy="71438"/>
                </a:xfrm>
                <a:prstGeom prst="rightArrow">
                  <a:avLst/>
                </a:prstGeom>
                <a:solidFill>
                  <a:srgbClr val="F1EEEF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00B38423-55B4-D2E8-15E8-CC9B9E7D1413}"/>
                </a:ext>
              </a:extLst>
            </p:cNvPr>
            <p:cNvGrpSpPr/>
            <p:nvPr/>
          </p:nvGrpSpPr>
          <p:grpSpPr>
            <a:xfrm>
              <a:off x="2660811" y="5393582"/>
              <a:ext cx="2977989" cy="695324"/>
              <a:chOff x="2660811" y="2982983"/>
              <a:chExt cx="2977989" cy="695324"/>
            </a:xfrm>
          </p:grpSpPr>
          <p:sp>
            <p:nvSpPr>
              <p:cNvPr id="47" name="Title 1">
                <a:extLst>
                  <a:ext uri="{FF2B5EF4-FFF2-40B4-BE49-F238E27FC236}">
                    <a16:creationId xmlns:a16="http://schemas.microsoft.com/office/drawing/2014/main" id="{D67A3211-6245-7EE1-E7A3-CBD80BFA2EC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028950" y="2982983"/>
                <a:ext cx="2609850" cy="695324"/>
              </a:xfrm>
              <a:prstGeom prst="rect">
                <a:avLst/>
              </a:prstGeom>
            </p:spPr>
            <p:txBody>
              <a:bodyPr anchor="t">
                <a:normAutofit/>
              </a:bodyPr>
              <a:lstStyle>
                <a:lvl1pPr algn="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800" b="1" kern="1200">
                    <a:solidFill>
                      <a:schemeClr val="tx1"/>
                    </a:solidFill>
                    <a:latin typeface="Jost"/>
                    <a:ea typeface="+mj-ea"/>
                    <a:cs typeface="+mj-cs"/>
                  </a:defRPr>
                </a:lvl1pPr>
              </a:lstStyle>
              <a:p>
                <a:pPr algn="l"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en-US" sz="1800" b="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GDP, GNP, National Income</a:t>
                </a:r>
              </a:p>
            </p:txBody>
          </p: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A0912C89-311D-4962-65F4-F8453792F3E1}"/>
                  </a:ext>
                </a:extLst>
              </p:cNvPr>
              <p:cNvGrpSpPr/>
              <p:nvPr/>
            </p:nvGrpSpPr>
            <p:grpSpPr>
              <a:xfrm>
                <a:off x="2660811" y="3036323"/>
                <a:ext cx="232409" cy="232409"/>
                <a:chOff x="2660811" y="3036323"/>
                <a:chExt cx="232409" cy="232409"/>
              </a:xfrm>
            </p:grpSpPr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6F2383E9-8A49-D105-DBE8-E2AD59B27155}"/>
                    </a:ext>
                  </a:extLst>
                </p:cNvPr>
                <p:cNvSpPr/>
                <p:nvPr/>
              </p:nvSpPr>
              <p:spPr>
                <a:xfrm>
                  <a:off x="2660811" y="3036323"/>
                  <a:ext cx="232409" cy="232409"/>
                </a:xfrm>
                <a:prstGeom prst="ellipse">
                  <a:avLst/>
                </a:prstGeom>
                <a:solidFill>
                  <a:srgbClr val="C5F20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0" name="Arrow: Right 49">
                  <a:extLst>
                    <a:ext uri="{FF2B5EF4-FFF2-40B4-BE49-F238E27FC236}">
                      <a16:creationId xmlns:a16="http://schemas.microsoft.com/office/drawing/2014/main" id="{86DEF6FC-29E5-0817-8B60-C46729BAB325}"/>
                    </a:ext>
                  </a:extLst>
                </p:cNvPr>
                <p:cNvSpPr/>
                <p:nvPr/>
              </p:nvSpPr>
              <p:spPr>
                <a:xfrm>
                  <a:off x="2713912" y="3116808"/>
                  <a:ext cx="126207" cy="71438"/>
                </a:xfrm>
                <a:prstGeom prst="rightArrow">
                  <a:avLst/>
                </a:prstGeom>
                <a:solidFill>
                  <a:srgbClr val="F1EEEF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54" name="Title 1">
              <a:extLst>
                <a:ext uri="{FF2B5EF4-FFF2-40B4-BE49-F238E27FC236}">
                  <a16:creationId xmlns:a16="http://schemas.microsoft.com/office/drawing/2014/main" id="{ACFDF95F-E991-BF20-DD11-5971FACC5BA4}"/>
                </a:ext>
              </a:extLst>
            </p:cNvPr>
            <p:cNvSpPr txBox="1">
              <a:spLocks/>
            </p:cNvSpPr>
            <p:nvPr/>
          </p:nvSpPr>
          <p:spPr>
            <a:xfrm>
              <a:off x="2713913" y="1982578"/>
              <a:ext cx="3148726" cy="678459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800" b="1" kern="1200">
                  <a:solidFill>
                    <a:schemeClr val="tx1"/>
                  </a:solidFill>
                  <a:latin typeface="Jost"/>
                  <a:ea typeface="+mj-ea"/>
                  <a:cs typeface="+mj-cs"/>
                </a:defRPr>
              </a:lvl1pPr>
            </a:lstStyle>
            <a:p>
              <a:pPr algn="l">
                <a:lnSpc>
                  <a:spcPct val="100000"/>
                </a:lnSpc>
                <a:spcBef>
                  <a:spcPts val="200"/>
                </a:spcBef>
              </a:pPr>
              <a:r>
                <a:rPr lang="en-US" sz="2000" dirty="0">
                  <a:solidFill>
                    <a:srgbClr val="F1EEEF"/>
                  </a:solidFill>
                </a:rPr>
                <a:t>Economic Growth</a:t>
              </a: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E465A7F4-F330-5C1E-8779-80E894B8D114}"/>
              </a:ext>
            </a:extLst>
          </p:cNvPr>
          <p:cNvGrpSpPr/>
          <p:nvPr/>
        </p:nvGrpSpPr>
        <p:grpSpPr>
          <a:xfrm>
            <a:off x="6319044" y="1582242"/>
            <a:ext cx="4095750" cy="4829175"/>
            <a:chOff x="6319044" y="1438275"/>
            <a:chExt cx="4095750" cy="4829175"/>
          </a:xfrm>
        </p:grpSpPr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4E55423B-1F94-5B6C-057F-47FC81BE2C0A}"/>
                </a:ext>
              </a:extLst>
            </p:cNvPr>
            <p:cNvSpPr/>
            <p:nvPr/>
          </p:nvSpPr>
          <p:spPr>
            <a:xfrm>
              <a:off x="6319044" y="1438275"/>
              <a:ext cx="4095750" cy="4829175"/>
            </a:xfrm>
            <a:prstGeom prst="roundRect">
              <a:avLst>
                <a:gd name="adj" fmla="val 11783"/>
              </a:avLst>
            </a:prstGeom>
            <a:solidFill>
              <a:srgbClr val="F1EE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GP</a:t>
              </a: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F1B7551-945D-4850-E2EA-6ECD8663AF74}"/>
                </a:ext>
              </a:extLst>
            </p:cNvPr>
            <p:cNvSpPr/>
            <p:nvPr/>
          </p:nvSpPr>
          <p:spPr>
            <a:xfrm rot="10800000">
              <a:off x="6319044" y="1971676"/>
              <a:ext cx="3328988" cy="695324"/>
            </a:xfrm>
            <a:custGeom>
              <a:avLst/>
              <a:gdLst>
                <a:gd name="csX0" fmla="*/ 185735 w 3328988"/>
                <a:gd name="csY0" fmla="*/ 0 h 695324"/>
                <a:gd name="csX1" fmla="*/ 3328988 w 3328988"/>
                <a:gd name="csY1" fmla="*/ 0 h 695324"/>
                <a:gd name="csX2" fmla="*/ 3328988 w 3328988"/>
                <a:gd name="csY2" fmla="*/ 695324 h 695324"/>
                <a:gd name="csX3" fmla="*/ 185735 w 3328988"/>
                <a:gd name="csY3" fmla="*/ 695324 h 695324"/>
                <a:gd name="csX4" fmla="*/ 0 w 3328988"/>
                <a:gd name="csY4" fmla="*/ 509589 h 695324"/>
                <a:gd name="csX5" fmla="*/ 0 w 3328988"/>
                <a:gd name="csY5" fmla="*/ 185735 h 695324"/>
                <a:gd name="csX6" fmla="*/ 185735 w 3328988"/>
                <a:gd name="csY6" fmla="*/ 0 h 6953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328988" h="695324">
                  <a:moveTo>
                    <a:pt x="185735" y="0"/>
                  </a:moveTo>
                  <a:lnTo>
                    <a:pt x="3328988" y="0"/>
                  </a:lnTo>
                  <a:lnTo>
                    <a:pt x="3328988" y="695324"/>
                  </a:lnTo>
                  <a:lnTo>
                    <a:pt x="185735" y="695324"/>
                  </a:lnTo>
                  <a:cubicBezTo>
                    <a:pt x="83156" y="695324"/>
                    <a:pt x="0" y="612168"/>
                    <a:pt x="0" y="509589"/>
                  </a:cubicBezTo>
                  <a:lnTo>
                    <a:pt x="0" y="185735"/>
                  </a:lnTo>
                  <a:cubicBezTo>
                    <a:pt x="0" y="83156"/>
                    <a:pt x="83156" y="0"/>
                    <a:pt x="185735" y="0"/>
                  </a:cubicBezTo>
                  <a:close/>
                </a:path>
              </a:pathLst>
            </a:custGeom>
            <a:solidFill>
              <a:srgbClr val="C5F20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BF8D5303-9F49-3153-ED6D-856168A2D23B}"/>
                </a:ext>
              </a:extLst>
            </p:cNvPr>
            <p:cNvGrpSpPr/>
            <p:nvPr/>
          </p:nvGrpSpPr>
          <p:grpSpPr>
            <a:xfrm>
              <a:off x="7208205" y="2982983"/>
              <a:ext cx="2977989" cy="695324"/>
              <a:chOff x="2660811" y="2982983"/>
              <a:chExt cx="2977989" cy="695324"/>
            </a:xfrm>
          </p:grpSpPr>
          <p:sp>
            <p:nvSpPr>
              <p:cNvPr id="56" name="Title 1">
                <a:extLst>
                  <a:ext uri="{FF2B5EF4-FFF2-40B4-BE49-F238E27FC236}">
                    <a16:creationId xmlns:a16="http://schemas.microsoft.com/office/drawing/2014/main" id="{A4709A2E-3264-7E57-E4A4-FCF25139FD8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028950" y="2982983"/>
                <a:ext cx="2609850" cy="695324"/>
              </a:xfrm>
              <a:prstGeom prst="rect">
                <a:avLst/>
              </a:prstGeom>
            </p:spPr>
            <p:txBody>
              <a:bodyPr anchor="t">
                <a:normAutofit fontScale="92500"/>
              </a:bodyPr>
              <a:lstStyle>
                <a:lvl1pPr algn="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800" b="1" kern="1200">
                    <a:solidFill>
                      <a:schemeClr val="tx1"/>
                    </a:solidFill>
                    <a:latin typeface="Jost"/>
                    <a:ea typeface="+mj-ea"/>
                    <a:cs typeface="+mj-cs"/>
                  </a:defRPr>
                </a:lvl1pPr>
              </a:lstStyle>
              <a:p>
                <a:pPr algn="l"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en-US" sz="1800" b="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Improvement in standard of living and quality of life</a:t>
                </a:r>
              </a:p>
            </p:txBody>
          </p: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C7594F62-F29D-9ED2-5BC2-3A09EEF172EB}"/>
                  </a:ext>
                </a:extLst>
              </p:cNvPr>
              <p:cNvGrpSpPr/>
              <p:nvPr/>
            </p:nvGrpSpPr>
            <p:grpSpPr>
              <a:xfrm>
                <a:off x="2660811" y="3036323"/>
                <a:ext cx="232409" cy="232409"/>
                <a:chOff x="2660811" y="3036323"/>
                <a:chExt cx="232409" cy="232409"/>
              </a:xfrm>
            </p:grpSpPr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4C99F4C3-A019-757E-D49B-4F3076BDC2DD}"/>
                    </a:ext>
                  </a:extLst>
                </p:cNvPr>
                <p:cNvSpPr/>
                <p:nvPr/>
              </p:nvSpPr>
              <p:spPr>
                <a:xfrm>
                  <a:off x="2660811" y="3036323"/>
                  <a:ext cx="232409" cy="232409"/>
                </a:xfrm>
                <a:prstGeom prst="ellipse">
                  <a:avLst/>
                </a:prstGeom>
                <a:solidFill>
                  <a:srgbClr val="C5F20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9" name="Arrow: Right 58">
                  <a:extLst>
                    <a:ext uri="{FF2B5EF4-FFF2-40B4-BE49-F238E27FC236}">
                      <a16:creationId xmlns:a16="http://schemas.microsoft.com/office/drawing/2014/main" id="{B6A6CEF8-0197-60BB-F7F0-AEA01D4D2DED}"/>
                    </a:ext>
                  </a:extLst>
                </p:cNvPr>
                <p:cNvSpPr/>
                <p:nvPr/>
              </p:nvSpPr>
              <p:spPr>
                <a:xfrm>
                  <a:off x="2713912" y="3116808"/>
                  <a:ext cx="126207" cy="71438"/>
                </a:xfrm>
                <a:prstGeom prst="rightArrow">
                  <a:avLst/>
                </a:prstGeom>
                <a:solidFill>
                  <a:srgbClr val="F1EEEF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A102371F-4092-A435-0928-5430F779A37A}"/>
                </a:ext>
              </a:extLst>
            </p:cNvPr>
            <p:cNvGrpSpPr/>
            <p:nvPr/>
          </p:nvGrpSpPr>
          <p:grpSpPr>
            <a:xfrm>
              <a:off x="7208205" y="3671075"/>
              <a:ext cx="2977989" cy="695324"/>
              <a:chOff x="2660811" y="2982983"/>
              <a:chExt cx="2977989" cy="695324"/>
            </a:xfrm>
          </p:grpSpPr>
          <p:sp>
            <p:nvSpPr>
              <p:cNvPr id="61" name="Title 1">
                <a:extLst>
                  <a:ext uri="{FF2B5EF4-FFF2-40B4-BE49-F238E27FC236}">
                    <a16:creationId xmlns:a16="http://schemas.microsoft.com/office/drawing/2014/main" id="{C55D0009-CD18-852F-6863-6E79E04231F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028950" y="2982983"/>
                <a:ext cx="2609850" cy="695324"/>
              </a:xfrm>
              <a:prstGeom prst="rect">
                <a:avLst/>
              </a:prstGeom>
            </p:spPr>
            <p:txBody>
              <a:bodyPr anchor="t">
                <a:normAutofit/>
              </a:bodyPr>
              <a:lstStyle>
                <a:lvl1pPr algn="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800" b="1" kern="1200">
                    <a:solidFill>
                      <a:schemeClr val="tx1"/>
                    </a:solidFill>
                    <a:latin typeface="Jost"/>
                    <a:ea typeface="+mj-ea"/>
                    <a:cs typeface="+mj-cs"/>
                  </a:defRPr>
                </a:lvl1pPr>
              </a:lstStyle>
              <a:p>
                <a:pPr algn="l"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en-US" sz="1800" b="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Qualitative</a:t>
                </a:r>
              </a:p>
            </p:txBody>
          </p: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0CA64C38-8577-7FAB-C5F9-0BDAC576C91D}"/>
                  </a:ext>
                </a:extLst>
              </p:cNvPr>
              <p:cNvGrpSpPr/>
              <p:nvPr/>
            </p:nvGrpSpPr>
            <p:grpSpPr>
              <a:xfrm>
                <a:off x="2660811" y="3036323"/>
                <a:ext cx="232409" cy="232409"/>
                <a:chOff x="2660811" y="3036323"/>
                <a:chExt cx="232409" cy="232409"/>
              </a:xfrm>
            </p:grpSpPr>
            <p:sp>
              <p:nvSpPr>
                <p:cNvPr id="63" name="Oval 62">
                  <a:extLst>
                    <a:ext uri="{FF2B5EF4-FFF2-40B4-BE49-F238E27FC236}">
                      <a16:creationId xmlns:a16="http://schemas.microsoft.com/office/drawing/2014/main" id="{69A29798-2022-0375-F327-97959DBABC16}"/>
                    </a:ext>
                  </a:extLst>
                </p:cNvPr>
                <p:cNvSpPr/>
                <p:nvPr/>
              </p:nvSpPr>
              <p:spPr>
                <a:xfrm>
                  <a:off x="2660811" y="3036323"/>
                  <a:ext cx="232409" cy="232409"/>
                </a:xfrm>
                <a:prstGeom prst="ellipse">
                  <a:avLst/>
                </a:prstGeom>
                <a:solidFill>
                  <a:srgbClr val="C5F20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4" name="Arrow: Right 63">
                  <a:extLst>
                    <a:ext uri="{FF2B5EF4-FFF2-40B4-BE49-F238E27FC236}">
                      <a16:creationId xmlns:a16="http://schemas.microsoft.com/office/drawing/2014/main" id="{8C7590C4-28AA-5554-1EDB-B5ECBBEACF25}"/>
                    </a:ext>
                  </a:extLst>
                </p:cNvPr>
                <p:cNvSpPr/>
                <p:nvPr/>
              </p:nvSpPr>
              <p:spPr>
                <a:xfrm>
                  <a:off x="2713912" y="3116808"/>
                  <a:ext cx="126207" cy="71438"/>
                </a:xfrm>
                <a:prstGeom prst="rightArrow">
                  <a:avLst/>
                </a:prstGeom>
                <a:solidFill>
                  <a:srgbClr val="F1EEEF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079DA7FE-20B6-8630-BA3F-16A3038FBD15}"/>
                </a:ext>
              </a:extLst>
            </p:cNvPr>
            <p:cNvGrpSpPr/>
            <p:nvPr/>
          </p:nvGrpSpPr>
          <p:grpSpPr>
            <a:xfrm>
              <a:off x="7208205" y="4215905"/>
              <a:ext cx="2977989" cy="695324"/>
              <a:chOff x="2660811" y="2973458"/>
              <a:chExt cx="2977989" cy="695324"/>
            </a:xfrm>
          </p:grpSpPr>
          <p:sp>
            <p:nvSpPr>
              <p:cNvPr id="66" name="Title 1">
                <a:extLst>
                  <a:ext uri="{FF2B5EF4-FFF2-40B4-BE49-F238E27FC236}">
                    <a16:creationId xmlns:a16="http://schemas.microsoft.com/office/drawing/2014/main" id="{22676567-D67B-F909-8F81-3097E3F7B62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028950" y="2973458"/>
                <a:ext cx="2609850" cy="695324"/>
              </a:xfrm>
              <a:prstGeom prst="rect">
                <a:avLst/>
              </a:prstGeom>
            </p:spPr>
            <p:txBody>
              <a:bodyPr anchor="t">
                <a:normAutofit fontScale="92500" lnSpcReduction="10000"/>
              </a:bodyPr>
              <a:lstStyle>
                <a:lvl1pPr algn="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800" b="1" kern="1200">
                    <a:solidFill>
                      <a:schemeClr val="tx1"/>
                    </a:solidFill>
                    <a:latin typeface="Jost"/>
                    <a:ea typeface="+mj-ea"/>
                    <a:cs typeface="+mj-cs"/>
                  </a:defRPr>
                </a:lvl1pPr>
              </a:lstStyle>
              <a:p>
                <a:pPr algn="l">
                  <a:lnSpc>
                    <a:spcPct val="120000"/>
                  </a:lnSpc>
                  <a:spcBef>
                    <a:spcPts val="200"/>
                  </a:spcBef>
                </a:pPr>
                <a:r>
                  <a:rPr lang="en-US" sz="1800" b="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Welfare, education, health, poverty reduction</a:t>
                </a:r>
              </a:p>
            </p:txBody>
          </p:sp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90A3D969-BE3D-778D-0F9D-BC15AFE28E24}"/>
                  </a:ext>
                </a:extLst>
              </p:cNvPr>
              <p:cNvGrpSpPr/>
              <p:nvPr/>
            </p:nvGrpSpPr>
            <p:grpSpPr>
              <a:xfrm>
                <a:off x="2660811" y="3036323"/>
                <a:ext cx="232409" cy="232409"/>
                <a:chOff x="2660811" y="3036323"/>
                <a:chExt cx="232409" cy="232409"/>
              </a:xfrm>
            </p:grpSpPr>
            <p:sp>
              <p:nvSpPr>
                <p:cNvPr id="68" name="Oval 67">
                  <a:extLst>
                    <a:ext uri="{FF2B5EF4-FFF2-40B4-BE49-F238E27FC236}">
                      <a16:creationId xmlns:a16="http://schemas.microsoft.com/office/drawing/2014/main" id="{C57BB017-F2BF-3DB5-4832-FCED91579D91}"/>
                    </a:ext>
                  </a:extLst>
                </p:cNvPr>
                <p:cNvSpPr/>
                <p:nvPr/>
              </p:nvSpPr>
              <p:spPr>
                <a:xfrm>
                  <a:off x="2660811" y="3036323"/>
                  <a:ext cx="232409" cy="232409"/>
                </a:xfrm>
                <a:prstGeom prst="ellipse">
                  <a:avLst/>
                </a:prstGeom>
                <a:solidFill>
                  <a:srgbClr val="C5F20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9" name="Arrow: Right 68">
                  <a:extLst>
                    <a:ext uri="{FF2B5EF4-FFF2-40B4-BE49-F238E27FC236}">
                      <a16:creationId xmlns:a16="http://schemas.microsoft.com/office/drawing/2014/main" id="{31E0201F-7CDB-F6B7-52D5-410F639EC785}"/>
                    </a:ext>
                  </a:extLst>
                </p:cNvPr>
                <p:cNvSpPr/>
                <p:nvPr/>
              </p:nvSpPr>
              <p:spPr>
                <a:xfrm>
                  <a:off x="2713912" y="3116808"/>
                  <a:ext cx="126207" cy="71438"/>
                </a:xfrm>
                <a:prstGeom prst="rightArrow">
                  <a:avLst/>
                </a:prstGeom>
                <a:solidFill>
                  <a:srgbClr val="F1EEEF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3F4C86D8-2CAA-6AF9-B044-D2966C727B9D}"/>
                </a:ext>
              </a:extLst>
            </p:cNvPr>
            <p:cNvGrpSpPr/>
            <p:nvPr/>
          </p:nvGrpSpPr>
          <p:grpSpPr>
            <a:xfrm>
              <a:off x="7208205" y="4822082"/>
              <a:ext cx="2977989" cy="695324"/>
              <a:chOff x="2660811" y="2982983"/>
              <a:chExt cx="2977989" cy="695324"/>
            </a:xfrm>
          </p:grpSpPr>
          <p:sp>
            <p:nvSpPr>
              <p:cNvPr id="71" name="Title 1">
                <a:extLst>
                  <a:ext uri="{FF2B5EF4-FFF2-40B4-BE49-F238E27FC236}">
                    <a16:creationId xmlns:a16="http://schemas.microsoft.com/office/drawing/2014/main" id="{5A245B03-82DF-53EE-85E6-42026CEA42E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028950" y="2982983"/>
                <a:ext cx="2609850" cy="695324"/>
              </a:xfrm>
              <a:prstGeom prst="rect">
                <a:avLst/>
              </a:prstGeom>
            </p:spPr>
            <p:txBody>
              <a:bodyPr anchor="t">
                <a:normAutofit/>
              </a:bodyPr>
              <a:lstStyle>
                <a:lvl1pPr algn="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800" b="1" kern="1200">
                    <a:solidFill>
                      <a:schemeClr val="tx1"/>
                    </a:solidFill>
                    <a:latin typeface="Jost"/>
                    <a:ea typeface="+mj-ea"/>
                    <a:cs typeface="+mj-cs"/>
                  </a:defRPr>
                </a:lvl1pPr>
              </a:lstStyle>
              <a:p>
                <a:pPr algn="l"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en-US" sz="1800" b="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Long-term</a:t>
                </a:r>
              </a:p>
            </p:txBody>
          </p:sp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0B2CB24D-9578-05C4-87F3-7BCCFA9321D2}"/>
                  </a:ext>
                </a:extLst>
              </p:cNvPr>
              <p:cNvGrpSpPr/>
              <p:nvPr/>
            </p:nvGrpSpPr>
            <p:grpSpPr>
              <a:xfrm>
                <a:off x="2660811" y="3036323"/>
                <a:ext cx="232409" cy="232409"/>
                <a:chOff x="2660811" y="3036323"/>
                <a:chExt cx="232409" cy="232409"/>
              </a:xfrm>
            </p:grpSpPr>
            <p:sp>
              <p:nvSpPr>
                <p:cNvPr id="73" name="Oval 72">
                  <a:extLst>
                    <a:ext uri="{FF2B5EF4-FFF2-40B4-BE49-F238E27FC236}">
                      <a16:creationId xmlns:a16="http://schemas.microsoft.com/office/drawing/2014/main" id="{739DA99D-7E59-0E2B-2476-81E3F298AE3C}"/>
                    </a:ext>
                  </a:extLst>
                </p:cNvPr>
                <p:cNvSpPr/>
                <p:nvPr/>
              </p:nvSpPr>
              <p:spPr>
                <a:xfrm>
                  <a:off x="2660811" y="3036323"/>
                  <a:ext cx="232409" cy="232409"/>
                </a:xfrm>
                <a:prstGeom prst="ellipse">
                  <a:avLst/>
                </a:prstGeom>
                <a:solidFill>
                  <a:srgbClr val="C5F20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4" name="Arrow: Right 73">
                  <a:extLst>
                    <a:ext uri="{FF2B5EF4-FFF2-40B4-BE49-F238E27FC236}">
                      <a16:creationId xmlns:a16="http://schemas.microsoft.com/office/drawing/2014/main" id="{CAF56CA8-B917-1EB8-7B6F-5859EE01CADD}"/>
                    </a:ext>
                  </a:extLst>
                </p:cNvPr>
                <p:cNvSpPr/>
                <p:nvPr/>
              </p:nvSpPr>
              <p:spPr>
                <a:xfrm>
                  <a:off x="2713912" y="3116808"/>
                  <a:ext cx="126207" cy="71438"/>
                </a:xfrm>
                <a:prstGeom prst="rightArrow">
                  <a:avLst/>
                </a:prstGeom>
                <a:solidFill>
                  <a:srgbClr val="F1EEEF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468328EF-205A-6C3C-7CFC-F23783E23E55}"/>
                </a:ext>
              </a:extLst>
            </p:cNvPr>
            <p:cNvGrpSpPr/>
            <p:nvPr/>
          </p:nvGrpSpPr>
          <p:grpSpPr>
            <a:xfrm>
              <a:off x="7208205" y="5279282"/>
              <a:ext cx="2977989" cy="695324"/>
              <a:chOff x="2660811" y="2982983"/>
              <a:chExt cx="2977989" cy="695324"/>
            </a:xfrm>
          </p:grpSpPr>
          <p:sp>
            <p:nvSpPr>
              <p:cNvPr id="76" name="Title 1">
                <a:extLst>
                  <a:ext uri="{FF2B5EF4-FFF2-40B4-BE49-F238E27FC236}">
                    <a16:creationId xmlns:a16="http://schemas.microsoft.com/office/drawing/2014/main" id="{D561BA2A-14F2-2B69-C459-36F753FBFDB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028950" y="2982983"/>
                <a:ext cx="2609850" cy="695324"/>
              </a:xfrm>
              <a:prstGeom prst="rect">
                <a:avLst/>
              </a:prstGeom>
            </p:spPr>
            <p:txBody>
              <a:bodyPr anchor="t">
                <a:noAutofit/>
              </a:bodyPr>
              <a:lstStyle>
                <a:lvl1pPr algn="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800" b="1" kern="1200">
                    <a:solidFill>
                      <a:schemeClr val="tx1"/>
                    </a:solidFill>
                    <a:latin typeface="Jost"/>
                    <a:ea typeface="+mj-ea"/>
                    <a:cs typeface="+mj-cs"/>
                  </a:defRPr>
                </a:lvl1pPr>
              </a:lstStyle>
              <a:p>
                <a:pPr algn="l">
                  <a:lnSpc>
                    <a:spcPct val="110000"/>
                  </a:lnSpc>
                  <a:spcBef>
                    <a:spcPts val="200"/>
                  </a:spcBef>
                </a:pPr>
                <a:r>
                  <a:rPr lang="en-US" sz="1700" b="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Human Development Index (HDI), literacy, life expectancy</a:t>
                </a:r>
              </a:p>
            </p:txBody>
          </p:sp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C22DFAA1-1A61-FDA6-9482-83E6DA56ADD0}"/>
                  </a:ext>
                </a:extLst>
              </p:cNvPr>
              <p:cNvGrpSpPr/>
              <p:nvPr/>
            </p:nvGrpSpPr>
            <p:grpSpPr>
              <a:xfrm>
                <a:off x="2660811" y="3036323"/>
                <a:ext cx="232409" cy="232409"/>
                <a:chOff x="2660811" y="3036323"/>
                <a:chExt cx="232409" cy="232409"/>
              </a:xfrm>
            </p:grpSpPr>
            <p:sp>
              <p:nvSpPr>
                <p:cNvPr id="78" name="Oval 77">
                  <a:extLst>
                    <a:ext uri="{FF2B5EF4-FFF2-40B4-BE49-F238E27FC236}">
                      <a16:creationId xmlns:a16="http://schemas.microsoft.com/office/drawing/2014/main" id="{46D71FCA-1EBC-2C7E-E778-0D11DF28B062}"/>
                    </a:ext>
                  </a:extLst>
                </p:cNvPr>
                <p:cNvSpPr/>
                <p:nvPr/>
              </p:nvSpPr>
              <p:spPr>
                <a:xfrm>
                  <a:off x="2660811" y="3036323"/>
                  <a:ext cx="232409" cy="232409"/>
                </a:xfrm>
                <a:prstGeom prst="ellipse">
                  <a:avLst/>
                </a:prstGeom>
                <a:solidFill>
                  <a:srgbClr val="C5F20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Arrow: Right 78">
                  <a:extLst>
                    <a:ext uri="{FF2B5EF4-FFF2-40B4-BE49-F238E27FC236}">
                      <a16:creationId xmlns:a16="http://schemas.microsoft.com/office/drawing/2014/main" id="{16F9F531-3115-7640-3885-CFE875AC78F0}"/>
                    </a:ext>
                  </a:extLst>
                </p:cNvPr>
                <p:cNvSpPr/>
                <p:nvPr/>
              </p:nvSpPr>
              <p:spPr>
                <a:xfrm>
                  <a:off x="2713912" y="3116808"/>
                  <a:ext cx="126207" cy="71438"/>
                </a:xfrm>
                <a:prstGeom prst="rightArrow">
                  <a:avLst/>
                </a:prstGeom>
                <a:solidFill>
                  <a:srgbClr val="F1EEEF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81" name="Title 1">
              <a:extLst>
                <a:ext uri="{FF2B5EF4-FFF2-40B4-BE49-F238E27FC236}">
                  <a16:creationId xmlns:a16="http://schemas.microsoft.com/office/drawing/2014/main" id="{1304C3DF-DBB9-2563-893D-2BC99B964A6C}"/>
                </a:ext>
              </a:extLst>
            </p:cNvPr>
            <p:cNvSpPr txBox="1">
              <a:spLocks/>
            </p:cNvSpPr>
            <p:nvPr/>
          </p:nvSpPr>
          <p:spPr>
            <a:xfrm>
              <a:off x="6448425" y="1971676"/>
              <a:ext cx="3199607" cy="678459"/>
            </a:xfrm>
            <a:prstGeom prst="rect">
              <a:avLst/>
            </a:prstGeom>
          </p:spPr>
          <p:txBody>
            <a:bodyPr anchor="ctr">
              <a:normAutofit/>
            </a:bodyPr>
            <a:lstStyle>
              <a:lvl1pPr algn="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800" b="1" kern="1200">
                  <a:solidFill>
                    <a:schemeClr val="tx1"/>
                  </a:solidFill>
                  <a:latin typeface="Jost"/>
                  <a:ea typeface="+mj-ea"/>
                  <a:cs typeface="+mj-cs"/>
                </a:defRPr>
              </a:lvl1pPr>
            </a:lstStyle>
            <a:p>
              <a:pPr algn="l">
                <a:lnSpc>
                  <a:spcPct val="100000"/>
                </a:lnSpc>
                <a:spcBef>
                  <a:spcPts val="200"/>
                </a:spcBef>
              </a:pPr>
              <a:r>
                <a:rPr lang="en-US" sz="2000" dirty="0">
                  <a:solidFill>
                    <a:srgbClr val="F1EEEF"/>
                  </a:solidFill>
                </a:rPr>
                <a:t>Economic Development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13329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05FD2-ADFB-52A9-AD1C-4462DD5ED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B9DD80C-EE4C-2962-9634-327BAFE50F89}"/>
              </a:ext>
            </a:extLst>
          </p:cNvPr>
          <p:cNvSpPr/>
          <p:nvPr/>
        </p:nvSpPr>
        <p:spPr>
          <a:xfrm>
            <a:off x="0" y="0"/>
            <a:ext cx="12192000" cy="2019300"/>
          </a:xfrm>
          <a:prstGeom prst="rect">
            <a:avLst/>
          </a:prstGeom>
          <a:solidFill>
            <a:srgbClr val="C5F20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863043B-06A1-60E4-4C82-5D126149802A}"/>
              </a:ext>
            </a:extLst>
          </p:cNvPr>
          <p:cNvSpPr txBox="1">
            <a:spLocks/>
          </p:cNvSpPr>
          <p:nvPr/>
        </p:nvSpPr>
        <p:spPr>
          <a:xfrm>
            <a:off x="330201" y="335304"/>
            <a:ext cx="11531599" cy="232625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Jos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Bef>
                <a:spcPts val="1200"/>
              </a:spcBef>
            </a:pPr>
            <a:r>
              <a:rPr lang="en-US" sz="9600" dirty="0">
                <a:solidFill>
                  <a:srgbClr val="F1FFB4"/>
                </a:solidFill>
              </a:rPr>
              <a:t>MEASUREMENT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B7484C-827F-59E6-BA16-B9B9FFC61085}"/>
              </a:ext>
            </a:extLst>
          </p:cNvPr>
          <p:cNvSpPr/>
          <p:nvPr/>
        </p:nvSpPr>
        <p:spPr>
          <a:xfrm>
            <a:off x="0" y="1790699"/>
            <a:ext cx="6096000" cy="50673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0F0D01-E128-E965-8A2A-8F47B99317E9}"/>
              </a:ext>
            </a:extLst>
          </p:cNvPr>
          <p:cNvSpPr/>
          <p:nvPr/>
        </p:nvSpPr>
        <p:spPr>
          <a:xfrm>
            <a:off x="6096000" y="1790697"/>
            <a:ext cx="6096000" cy="50673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D87E5C1-F324-03A7-1E52-DB9ED3CB130C}"/>
              </a:ext>
            </a:extLst>
          </p:cNvPr>
          <p:cNvSpPr txBox="1">
            <a:spLocks/>
          </p:cNvSpPr>
          <p:nvPr/>
        </p:nvSpPr>
        <p:spPr>
          <a:xfrm>
            <a:off x="330201" y="2363846"/>
            <a:ext cx="5435599" cy="143090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Jos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ECONOMIC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GROWTH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659499F-5B74-D992-66E4-EEAFE49DEF02}"/>
              </a:ext>
            </a:extLst>
          </p:cNvPr>
          <p:cNvSpPr txBox="1">
            <a:spLocks/>
          </p:cNvSpPr>
          <p:nvPr/>
        </p:nvSpPr>
        <p:spPr>
          <a:xfrm>
            <a:off x="330201" y="3800760"/>
            <a:ext cx="5435599" cy="2533082"/>
          </a:xfrm>
          <a:prstGeom prst="rect">
            <a:avLst/>
          </a:prstGeom>
        </p:spPr>
        <p:txBody>
          <a:bodyPr anchor="t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Jost"/>
                <a:ea typeface="+mj-ea"/>
                <a:cs typeface="+mj-cs"/>
              </a:defRPr>
            </a:lvl1pPr>
          </a:lstStyle>
          <a:p>
            <a:pPr marL="342900" indent="-342900" algn="l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2200" b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GDP (Gross Domestic Product)</a:t>
            </a:r>
          </a:p>
          <a:p>
            <a:pPr marL="342900" indent="-342900" algn="l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2200" b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GNP (Gross National Product)</a:t>
            </a:r>
          </a:p>
          <a:p>
            <a:pPr marL="342900" indent="-342900" algn="l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2200" b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Per capita income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A6757C8-F98D-ED9B-3DB1-B021ACF792E5}"/>
              </a:ext>
            </a:extLst>
          </p:cNvPr>
          <p:cNvSpPr/>
          <p:nvPr/>
        </p:nvSpPr>
        <p:spPr>
          <a:xfrm>
            <a:off x="6096000" y="1790697"/>
            <a:ext cx="6096000" cy="50673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9B3079A-7ABE-0CB2-6685-32FE77816F1E}"/>
              </a:ext>
            </a:extLst>
          </p:cNvPr>
          <p:cNvSpPr txBox="1">
            <a:spLocks/>
          </p:cNvSpPr>
          <p:nvPr/>
        </p:nvSpPr>
        <p:spPr>
          <a:xfrm>
            <a:off x="6426201" y="2363844"/>
            <a:ext cx="5435599" cy="143090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Jos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ECONOMIC DEVELOPMENT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D1C30DC7-20DF-1BD6-B20E-F99CBFE20082}"/>
              </a:ext>
            </a:extLst>
          </p:cNvPr>
          <p:cNvSpPr txBox="1">
            <a:spLocks/>
          </p:cNvSpPr>
          <p:nvPr/>
        </p:nvSpPr>
        <p:spPr>
          <a:xfrm>
            <a:off x="6426201" y="3800758"/>
            <a:ext cx="5435599" cy="2533082"/>
          </a:xfrm>
          <a:prstGeom prst="rect">
            <a:avLst/>
          </a:prstGeom>
        </p:spPr>
        <p:txBody>
          <a:bodyPr anchor="t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Jost"/>
                <a:ea typeface="+mj-ea"/>
                <a:cs typeface="+mj-cs"/>
              </a:defRPr>
            </a:lvl1pPr>
          </a:lstStyle>
          <a:p>
            <a:pPr marL="342900" indent="-342900" algn="l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2200" b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Human Development Index (HDI)</a:t>
            </a:r>
          </a:p>
          <a:p>
            <a:pPr marL="342900" indent="-342900" algn="l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2200" b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Life expectancy &amp; literacy rate</a:t>
            </a:r>
          </a:p>
          <a:p>
            <a:pPr marL="342900" indent="-342900" algn="l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2200" b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Poverty rate &amp; access to basic services</a:t>
            </a:r>
          </a:p>
          <a:p>
            <a:pPr marL="342900" indent="-342900" algn="l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2200" b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Employment opportunities and social indicators</a:t>
            </a:r>
          </a:p>
        </p:txBody>
      </p:sp>
    </p:spTree>
    <p:extLst>
      <p:ext uri="{BB962C8B-B14F-4D97-AF65-F5344CB8AC3E}">
        <p14:creationId xmlns:p14="http://schemas.microsoft.com/office/powerpoint/2010/main" val="3286917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2907F-D3DE-6A99-4952-5F9B8F4D8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8574CE2-D32E-1A9D-D0A0-8D365F507FB5}"/>
              </a:ext>
            </a:extLst>
          </p:cNvPr>
          <p:cNvSpPr/>
          <p:nvPr/>
        </p:nvSpPr>
        <p:spPr>
          <a:xfrm>
            <a:off x="0" y="0"/>
            <a:ext cx="12192000" cy="2019300"/>
          </a:xfrm>
          <a:prstGeom prst="rect">
            <a:avLst/>
          </a:prstGeom>
          <a:solidFill>
            <a:srgbClr val="C5F20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5687260-5146-5321-8A4C-758FD32EED30}"/>
              </a:ext>
            </a:extLst>
          </p:cNvPr>
          <p:cNvSpPr txBox="1">
            <a:spLocks/>
          </p:cNvSpPr>
          <p:nvPr/>
        </p:nvSpPr>
        <p:spPr>
          <a:xfrm>
            <a:off x="330201" y="335304"/>
            <a:ext cx="11531599" cy="232625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Jos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Bef>
                <a:spcPts val="1200"/>
              </a:spcBef>
            </a:pPr>
            <a:r>
              <a:rPr lang="en-US" sz="9600" dirty="0">
                <a:solidFill>
                  <a:srgbClr val="F1FFB4"/>
                </a:solidFill>
              </a:rPr>
              <a:t>IMPORTANCE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AB9F34-277C-9CDD-E180-FC47FCB3FD0B}"/>
              </a:ext>
            </a:extLst>
          </p:cNvPr>
          <p:cNvSpPr/>
          <p:nvPr/>
        </p:nvSpPr>
        <p:spPr>
          <a:xfrm>
            <a:off x="0" y="1790699"/>
            <a:ext cx="6096000" cy="50673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6D8A66-A7A0-95BC-FDD2-731C0F9A5930}"/>
              </a:ext>
            </a:extLst>
          </p:cNvPr>
          <p:cNvSpPr/>
          <p:nvPr/>
        </p:nvSpPr>
        <p:spPr>
          <a:xfrm>
            <a:off x="6096000" y="1790697"/>
            <a:ext cx="6096000" cy="50673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C81C367-38D0-5551-36D2-8089FE5A27C9}"/>
              </a:ext>
            </a:extLst>
          </p:cNvPr>
          <p:cNvSpPr txBox="1">
            <a:spLocks/>
          </p:cNvSpPr>
          <p:nvPr/>
        </p:nvSpPr>
        <p:spPr>
          <a:xfrm>
            <a:off x="330201" y="2363846"/>
            <a:ext cx="5435599" cy="143090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Jos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ECONOMIC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GROWTH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AE67D7A-B896-C3BD-682A-39A4A39BD0B0}"/>
              </a:ext>
            </a:extLst>
          </p:cNvPr>
          <p:cNvSpPr txBox="1">
            <a:spLocks/>
          </p:cNvSpPr>
          <p:nvPr/>
        </p:nvSpPr>
        <p:spPr>
          <a:xfrm>
            <a:off x="330201" y="3800760"/>
            <a:ext cx="5435599" cy="2800065"/>
          </a:xfrm>
          <a:prstGeom prst="rect">
            <a:avLst/>
          </a:prstGeom>
        </p:spPr>
        <p:txBody>
          <a:bodyPr anchor="t">
            <a:normAutofit lnSpcReduction="10000"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Jost"/>
                <a:ea typeface="+mj-ea"/>
                <a:cs typeface="+mj-cs"/>
              </a:defRPr>
            </a:lvl1pPr>
          </a:lstStyle>
          <a:p>
            <a:pPr marL="342900" indent="-342900" algn="l">
              <a:lnSpc>
                <a:spcPct val="12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Increases national income and wealth</a:t>
            </a:r>
          </a:p>
          <a:p>
            <a:pPr marL="342900" indent="-342900" algn="l">
              <a:lnSpc>
                <a:spcPct val="12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Creates employment opportunities</a:t>
            </a:r>
          </a:p>
          <a:p>
            <a:pPr marL="342900" indent="-342900" algn="l">
              <a:lnSpc>
                <a:spcPct val="12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Encourages investment and technological advancement</a:t>
            </a:r>
          </a:p>
          <a:p>
            <a:pPr marL="342900" indent="-342900" algn="l">
              <a:lnSpc>
                <a:spcPct val="12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Expands industrial and agricultural production</a:t>
            </a:r>
          </a:p>
          <a:p>
            <a:pPr marL="342900" indent="-342900" algn="l">
              <a:lnSpc>
                <a:spcPct val="12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Boosts government revenue, enabling more public services</a:t>
            </a:r>
          </a:p>
          <a:p>
            <a:pPr marL="342900" indent="-342900" algn="l">
              <a:lnSpc>
                <a:spcPct val="12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Enhances international trade and competitiveness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F26462-9754-C756-80BC-0316D7350821}"/>
              </a:ext>
            </a:extLst>
          </p:cNvPr>
          <p:cNvSpPr/>
          <p:nvPr/>
        </p:nvSpPr>
        <p:spPr>
          <a:xfrm>
            <a:off x="6096000" y="1790697"/>
            <a:ext cx="6096000" cy="50673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3A81EBE-112D-A5D8-9052-50E7C700809F}"/>
              </a:ext>
            </a:extLst>
          </p:cNvPr>
          <p:cNvSpPr txBox="1">
            <a:spLocks/>
          </p:cNvSpPr>
          <p:nvPr/>
        </p:nvSpPr>
        <p:spPr>
          <a:xfrm>
            <a:off x="6426201" y="2363844"/>
            <a:ext cx="5435599" cy="143090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Jos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ECONOMIC DEVELOPMENT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B6FA10E-1C9C-A366-CD67-3530DD35B8B6}"/>
              </a:ext>
            </a:extLst>
          </p:cNvPr>
          <p:cNvSpPr txBox="1">
            <a:spLocks/>
          </p:cNvSpPr>
          <p:nvPr/>
        </p:nvSpPr>
        <p:spPr>
          <a:xfrm>
            <a:off x="6426201" y="3800758"/>
            <a:ext cx="5435599" cy="2533082"/>
          </a:xfrm>
          <a:prstGeom prst="rect">
            <a:avLst/>
          </a:prstGeom>
        </p:spPr>
        <p:txBody>
          <a:bodyPr anchor="t">
            <a:normAutofit fontScale="85000" lnSpcReduction="20000"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Jost"/>
                <a:ea typeface="+mj-ea"/>
                <a:cs typeface="+mj-cs"/>
              </a:defRPr>
            </a:lvl1pPr>
          </a:lstStyle>
          <a:p>
            <a:pPr marL="342900" indent="-342900" algn="l">
              <a:lnSpc>
                <a:spcPct val="12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2400" b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Improves quality of life and standard of living</a:t>
            </a:r>
          </a:p>
          <a:p>
            <a:pPr marL="342900" indent="-342900" algn="l">
              <a:lnSpc>
                <a:spcPct val="12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2400" b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Reduces poverty and income inequality</a:t>
            </a:r>
          </a:p>
          <a:p>
            <a:pPr marL="342900" indent="-342900" algn="l">
              <a:lnSpc>
                <a:spcPct val="12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2400" b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Promotes sustainable development and environmental protection</a:t>
            </a:r>
          </a:p>
          <a:p>
            <a:pPr marL="342900" indent="-342900" algn="l">
              <a:lnSpc>
                <a:spcPct val="12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2400" b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Increases access to education and healthcare</a:t>
            </a:r>
          </a:p>
          <a:p>
            <a:pPr marL="342900" indent="-342900" algn="l">
              <a:lnSpc>
                <a:spcPct val="12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2400" b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Enhances social and human capital</a:t>
            </a:r>
          </a:p>
          <a:p>
            <a:pPr marL="342900" indent="-342900" algn="l">
              <a:lnSpc>
                <a:spcPct val="12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2400" b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Strengthens infrastructure and public services</a:t>
            </a:r>
          </a:p>
        </p:txBody>
      </p:sp>
    </p:spTree>
    <p:extLst>
      <p:ext uri="{BB962C8B-B14F-4D97-AF65-F5344CB8AC3E}">
        <p14:creationId xmlns:p14="http://schemas.microsoft.com/office/powerpoint/2010/main" val="3342683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0A82F-9CD5-19E7-5B5A-B99C9A966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8A7D4F5-012E-4D0A-9A22-6C70ADF744A3}"/>
              </a:ext>
            </a:extLst>
          </p:cNvPr>
          <p:cNvSpPr/>
          <p:nvPr/>
        </p:nvSpPr>
        <p:spPr>
          <a:xfrm>
            <a:off x="0" y="0"/>
            <a:ext cx="12192000" cy="2019300"/>
          </a:xfrm>
          <a:prstGeom prst="rect">
            <a:avLst/>
          </a:prstGeom>
          <a:solidFill>
            <a:srgbClr val="C5F20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E84BF1E-A1A1-28E6-1685-E7EA433C5BC1}"/>
              </a:ext>
            </a:extLst>
          </p:cNvPr>
          <p:cNvSpPr txBox="1">
            <a:spLocks/>
          </p:cNvSpPr>
          <p:nvPr/>
        </p:nvSpPr>
        <p:spPr>
          <a:xfrm>
            <a:off x="330201" y="335304"/>
            <a:ext cx="11531599" cy="232625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Jos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Bef>
                <a:spcPts val="1200"/>
              </a:spcBef>
            </a:pPr>
            <a:r>
              <a:rPr lang="en-US" sz="9600" dirty="0">
                <a:solidFill>
                  <a:srgbClr val="F1FFB4"/>
                </a:solidFill>
              </a:rPr>
              <a:t>LIMITATIONS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7ACAF0-252C-B335-2D72-7D9A7ACC8BA1}"/>
              </a:ext>
            </a:extLst>
          </p:cNvPr>
          <p:cNvSpPr/>
          <p:nvPr/>
        </p:nvSpPr>
        <p:spPr>
          <a:xfrm>
            <a:off x="6096000" y="1790697"/>
            <a:ext cx="6096000" cy="50673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641376-4C01-E10B-CB78-8BFD6AEAF333}"/>
              </a:ext>
            </a:extLst>
          </p:cNvPr>
          <p:cNvSpPr/>
          <p:nvPr/>
        </p:nvSpPr>
        <p:spPr>
          <a:xfrm>
            <a:off x="0" y="1790697"/>
            <a:ext cx="12192000" cy="50673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F0391B5-9168-63FE-73C2-5F916BAF7205}"/>
              </a:ext>
            </a:extLst>
          </p:cNvPr>
          <p:cNvSpPr txBox="1">
            <a:spLocks/>
          </p:cNvSpPr>
          <p:nvPr/>
        </p:nvSpPr>
        <p:spPr>
          <a:xfrm>
            <a:off x="330201" y="2363844"/>
            <a:ext cx="11531600" cy="1430902"/>
          </a:xfrm>
          <a:prstGeom prst="rect">
            <a:avLst/>
          </a:prstGeom>
        </p:spPr>
        <p:txBody>
          <a:bodyPr anchor="t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Jos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Limitations of Economic Growth Without Development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0E609EC-C392-7C6E-AB1F-32AB8878079F}"/>
              </a:ext>
            </a:extLst>
          </p:cNvPr>
          <p:cNvSpPr txBox="1">
            <a:spLocks/>
          </p:cNvSpPr>
          <p:nvPr/>
        </p:nvSpPr>
        <p:spPr>
          <a:xfrm>
            <a:off x="330201" y="3234700"/>
            <a:ext cx="11531600" cy="3099140"/>
          </a:xfrm>
          <a:prstGeom prst="rect">
            <a:avLst/>
          </a:prstGeom>
        </p:spPr>
        <p:txBody>
          <a:bodyPr anchor="t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Jost"/>
                <a:ea typeface="+mj-ea"/>
                <a:cs typeface="+mj-cs"/>
              </a:defRPr>
            </a:lvl1pPr>
          </a:lstStyle>
          <a:p>
            <a:pPr marL="342900" indent="-342900" algn="l">
              <a:lnSpc>
                <a:spcPct val="12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2400" b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Unequal income distribution may persist despite growth.</a:t>
            </a:r>
          </a:p>
          <a:p>
            <a:pPr marL="342900" indent="-342900" algn="l">
              <a:lnSpc>
                <a:spcPct val="12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2400" b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Environmental degradation and resource depletion may occur.</a:t>
            </a:r>
          </a:p>
          <a:p>
            <a:pPr marL="342900" indent="-342900" algn="l">
              <a:lnSpc>
                <a:spcPct val="12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2400" b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Social indicators like health and education may remain poor.</a:t>
            </a:r>
          </a:p>
          <a:p>
            <a:pPr marL="342900" indent="-342900" algn="l">
              <a:lnSpc>
                <a:spcPct val="12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sz="2400" b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High growth can coexist with poverty and unemployment in certain sectors.</a:t>
            </a:r>
          </a:p>
        </p:txBody>
      </p:sp>
      <p:pic>
        <p:nvPicPr>
          <p:cNvPr id="7170" name="Picture 2" descr="Top 10 What's Next PowerPoint Presentation Templates in 2026">
            <a:extLst>
              <a:ext uri="{FF2B5EF4-FFF2-40B4-BE49-F238E27FC236}">
                <a16:creationId xmlns:a16="http://schemas.microsoft.com/office/drawing/2014/main" id="{E02F0B06-6467-E653-D29F-49C1A4914D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80571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6132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F429A-6D94-01C1-9BCB-F186D88B7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43ECE43-E70F-C87B-0029-502591203D0E}"/>
              </a:ext>
            </a:extLst>
          </p:cNvPr>
          <p:cNvSpPr/>
          <p:nvPr/>
        </p:nvSpPr>
        <p:spPr>
          <a:xfrm>
            <a:off x="0" y="0"/>
            <a:ext cx="12192000" cy="2019300"/>
          </a:xfrm>
          <a:prstGeom prst="rect">
            <a:avLst/>
          </a:prstGeom>
          <a:solidFill>
            <a:srgbClr val="C5F20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DC979EA-C7B0-E0F4-9539-F7C2CF36CA90}"/>
              </a:ext>
            </a:extLst>
          </p:cNvPr>
          <p:cNvSpPr txBox="1">
            <a:spLocks/>
          </p:cNvSpPr>
          <p:nvPr/>
        </p:nvSpPr>
        <p:spPr>
          <a:xfrm>
            <a:off x="330201" y="335304"/>
            <a:ext cx="11531599" cy="232625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Jos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Bef>
                <a:spcPts val="1200"/>
              </a:spcBef>
            </a:pPr>
            <a:r>
              <a:rPr lang="en-US" sz="9600" dirty="0">
                <a:solidFill>
                  <a:srgbClr val="F1FFB4"/>
                </a:solidFill>
              </a:rPr>
              <a:t>CONCLUSION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3B49C8-19AA-933F-8352-C8402872E0D5}"/>
              </a:ext>
            </a:extLst>
          </p:cNvPr>
          <p:cNvSpPr/>
          <p:nvPr/>
        </p:nvSpPr>
        <p:spPr>
          <a:xfrm>
            <a:off x="6096000" y="1790697"/>
            <a:ext cx="6096000" cy="50673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F7768B-7BE2-EA9E-644A-79179F0AE528}"/>
              </a:ext>
            </a:extLst>
          </p:cNvPr>
          <p:cNvSpPr/>
          <p:nvPr/>
        </p:nvSpPr>
        <p:spPr>
          <a:xfrm>
            <a:off x="0" y="1790697"/>
            <a:ext cx="12192000" cy="50673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B1FEB0D-E363-90C7-936C-E3994BDCC072}"/>
              </a:ext>
            </a:extLst>
          </p:cNvPr>
          <p:cNvSpPr txBox="1">
            <a:spLocks/>
          </p:cNvSpPr>
          <p:nvPr/>
        </p:nvSpPr>
        <p:spPr>
          <a:xfrm>
            <a:off x="330201" y="2363844"/>
            <a:ext cx="11531600" cy="1430902"/>
          </a:xfrm>
          <a:prstGeom prst="rect">
            <a:avLst/>
          </a:prstGeom>
        </p:spPr>
        <p:txBody>
          <a:bodyPr anchor="t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Jos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Concluding Economic Growth &amp; Economic Development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D05D1D70-780C-6A84-1575-8F41C13DFF4E}"/>
              </a:ext>
            </a:extLst>
          </p:cNvPr>
          <p:cNvSpPr txBox="1">
            <a:spLocks/>
          </p:cNvSpPr>
          <p:nvPr/>
        </p:nvSpPr>
        <p:spPr>
          <a:xfrm>
            <a:off x="330201" y="3234700"/>
            <a:ext cx="11531600" cy="3099140"/>
          </a:xfrm>
          <a:prstGeom prst="rect">
            <a:avLst/>
          </a:prstGeom>
        </p:spPr>
        <p:txBody>
          <a:bodyPr anchor="t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Jost"/>
                <a:ea typeface="+mj-ea"/>
                <a:cs typeface="+mj-cs"/>
              </a:defRPr>
            </a:lvl1pPr>
          </a:lstStyle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2400" b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Economic growth is about increasing output, while economic development is about improving overall well-being. Sustainable development requires both growth and human welfare improvements. Policymakers should focus on inclusive growth that enhances quality of life for all citizens.</a:t>
            </a:r>
          </a:p>
        </p:txBody>
      </p:sp>
    </p:spTree>
    <p:extLst>
      <p:ext uri="{BB962C8B-B14F-4D97-AF65-F5344CB8AC3E}">
        <p14:creationId xmlns:p14="http://schemas.microsoft.com/office/powerpoint/2010/main" val="692395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25984-4D8F-FEBE-1A22-262A15533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98E50FD-701B-D48E-3D5F-40647194F124}"/>
              </a:ext>
            </a:extLst>
          </p:cNvPr>
          <p:cNvSpPr/>
          <p:nvPr/>
        </p:nvSpPr>
        <p:spPr>
          <a:xfrm>
            <a:off x="5040085" y="3429000"/>
            <a:ext cx="7151915" cy="2304143"/>
          </a:xfrm>
          <a:custGeom>
            <a:avLst/>
            <a:gdLst>
              <a:gd name="csX0" fmla="*/ 576036 w 7151915"/>
              <a:gd name="csY0" fmla="*/ 0 h 2304143"/>
              <a:gd name="csX1" fmla="*/ 7151915 w 7151915"/>
              <a:gd name="csY1" fmla="*/ 0 h 2304143"/>
              <a:gd name="csX2" fmla="*/ 7151915 w 7151915"/>
              <a:gd name="csY2" fmla="*/ 2304143 h 2304143"/>
              <a:gd name="csX3" fmla="*/ 0 w 7151915"/>
              <a:gd name="csY3" fmla="*/ 2304143 h 23041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151915" h="2304143">
                <a:moveTo>
                  <a:pt x="576036" y="0"/>
                </a:moveTo>
                <a:lnTo>
                  <a:pt x="7151915" y="0"/>
                </a:lnTo>
                <a:lnTo>
                  <a:pt x="7151915" y="2304143"/>
                </a:lnTo>
                <a:lnTo>
                  <a:pt x="0" y="2304143"/>
                </a:lnTo>
                <a:close/>
              </a:path>
            </a:pathLst>
          </a:custGeom>
          <a:solidFill>
            <a:srgbClr val="C4F2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2705F33C-23B4-92EC-3CBA-B2A552903839}"/>
              </a:ext>
            </a:extLst>
          </p:cNvPr>
          <p:cNvSpPr/>
          <p:nvPr/>
        </p:nvSpPr>
        <p:spPr>
          <a:xfrm>
            <a:off x="845456" y="1088571"/>
            <a:ext cx="9822543" cy="3468915"/>
          </a:xfrm>
          <a:prstGeom prst="parallelogram">
            <a:avLst/>
          </a:prstGeom>
          <a:solidFill>
            <a:srgbClr val="F2F2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52DC393-CBB5-73AC-652A-8EEAF0EB43F1}"/>
              </a:ext>
            </a:extLst>
          </p:cNvPr>
          <p:cNvSpPr txBox="1">
            <a:spLocks/>
          </p:cNvSpPr>
          <p:nvPr/>
        </p:nvSpPr>
        <p:spPr>
          <a:xfrm>
            <a:off x="2034049" y="1924050"/>
            <a:ext cx="8799050" cy="139875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Jos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Bef>
                <a:spcPts val="1200"/>
              </a:spcBef>
            </a:pP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THANK YOU.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8163C276-B90E-3EFC-C351-9B1A68074300}"/>
              </a:ext>
            </a:extLst>
          </p:cNvPr>
          <p:cNvSpPr txBox="1">
            <a:spLocks/>
          </p:cNvSpPr>
          <p:nvPr/>
        </p:nvSpPr>
        <p:spPr>
          <a:xfrm>
            <a:off x="2034049" y="3120334"/>
            <a:ext cx="8799050" cy="72225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Jos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Bef>
                <a:spcPts val="1200"/>
              </a:spcBef>
            </a:pPr>
            <a:r>
              <a:rPr lang="en-US" sz="24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Any Questions?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9B2C4C8-B1EA-3BA8-0D4E-594D2BEEC42C}"/>
              </a:ext>
            </a:extLst>
          </p:cNvPr>
          <p:cNvSpPr/>
          <p:nvPr/>
        </p:nvSpPr>
        <p:spPr>
          <a:xfrm>
            <a:off x="6811735" y="3429000"/>
            <a:ext cx="5380265" cy="2304143"/>
          </a:xfrm>
          <a:custGeom>
            <a:avLst/>
            <a:gdLst>
              <a:gd name="csX0" fmla="*/ 576036 w 5380265"/>
              <a:gd name="csY0" fmla="*/ 0 h 2304143"/>
              <a:gd name="csX1" fmla="*/ 5380265 w 5380265"/>
              <a:gd name="csY1" fmla="*/ 0 h 2304143"/>
              <a:gd name="csX2" fmla="*/ 5380265 w 5380265"/>
              <a:gd name="csY2" fmla="*/ 2304143 h 2304143"/>
              <a:gd name="csX3" fmla="*/ 0 w 5380265"/>
              <a:gd name="csY3" fmla="*/ 2304143 h 23041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380265" h="2304143">
                <a:moveTo>
                  <a:pt x="576036" y="0"/>
                </a:moveTo>
                <a:lnTo>
                  <a:pt x="5380265" y="0"/>
                </a:lnTo>
                <a:lnTo>
                  <a:pt x="5380265" y="2304143"/>
                </a:lnTo>
                <a:lnTo>
                  <a:pt x="0" y="2304143"/>
                </a:lnTo>
                <a:close/>
              </a:path>
            </a:pathLst>
          </a:custGeom>
          <a:blipFill dpi="0" rotWithShape="1">
            <a:blip r:embed="rId3"/>
            <a:srcRect/>
            <a:stretch>
              <a:fillRect l="-24000" t="-25000" r="-2600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09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352</Words>
  <Application>Microsoft Office PowerPoint</Application>
  <PresentationFormat>Widescreen</PresentationFormat>
  <Paragraphs>74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Calibri Light</vt:lpstr>
      <vt:lpstr>Jost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Ali</dc:creator>
  <cp:lastModifiedBy>Muhammad Ali</cp:lastModifiedBy>
  <cp:revision>1</cp:revision>
  <dcterms:created xsi:type="dcterms:W3CDTF">2025-12-22T18:49:06Z</dcterms:created>
  <dcterms:modified xsi:type="dcterms:W3CDTF">2025-12-22T20:11:28Z</dcterms:modified>
</cp:coreProperties>
</file>